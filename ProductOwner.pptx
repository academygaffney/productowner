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58" r:id="rId3"/>
    <p:sldId id="259" r:id="rId4"/>
    <p:sldId id="298" r:id="rId5"/>
    <p:sldId id="260" r:id="rId6"/>
    <p:sldId id="262" r:id="rId7"/>
    <p:sldId id="263" r:id="rId8"/>
    <p:sldId id="261" r:id="rId9"/>
    <p:sldId id="264" r:id="rId10"/>
    <p:sldId id="265" r:id="rId11"/>
    <p:sldId id="266" r:id="rId12"/>
    <p:sldId id="288" r:id="rId13"/>
    <p:sldId id="289" r:id="rId14"/>
    <p:sldId id="299" r:id="rId15"/>
    <p:sldId id="290" r:id="rId16"/>
    <p:sldId id="291" r:id="rId17"/>
    <p:sldId id="292" r:id="rId18"/>
    <p:sldId id="293" r:id="rId19"/>
    <p:sldId id="296" r:id="rId20"/>
    <p:sldId id="297" r:id="rId21"/>
    <p:sldId id="313" r:id="rId22"/>
    <p:sldId id="319" r:id="rId23"/>
    <p:sldId id="314" r:id="rId24"/>
    <p:sldId id="315" r:id="rId25"/>
    <p:sldId id="316" r:id="rId26"/>
    <p:sldId id="317" r:id="rId27"/>
    <p:sldId id="318" r:id="rId28"/>
    <p:sldId id="320" r:id="rId29"/>
    <p:sldId id="324" r:id="rId30"/>
    <p:sldId id="334" r:id="rId31"/>
    <p:sldId id="341" r:id="rId32"/>
    <p:sldId id="342" r:id="rId33"/>
    <p:sldId id="343" r:id="rId34"/>
    <p:sldId id="344" r:id="rId35"/>
    <p:sldId id="345" r:id="rId36"/>
    <p:sldId id="346" r:id="rId37"/>
    <p:sldId id="347" r:id="rId38"/>
    <p:sldId id="348" r:id="rId39"/>
    <p:sldId id="349" r:id="rId40"/>
    <p:sldId id="350" r:id="rId41"/>
    <p:sldId id="351" r:id="rId42"/>
    <p:sldId id="357" r:id="rId43"/>
    <p:sldId id="336" r:id="rId44"/>
    <p:sldId id="360" r:id="rId45"/>
    <p:sldId id="361" r:id="rId46"/>
    <p:sldId id="362" r:id="rId47"/>
    <p:sldId id="337" r:id="rId48"/>
    <p:sldId id="363" r:id="rId49"/>
    <p:sldId id="364" r:id="rId50"/>
    <p:sldId id="365" r:id="rId51"/>
    <p:sldId id="366" r:id="rId52"/>
    <p:sldId id="367" r:id="rId53"/>
    <p:sldId id="368" r:id="rId54"/>
    <p:sldId id="369" r:id="rId55"/>
    <p:sldId id="370" r:id="rId56"/>
    <p:sldId id="371" r:id="rId57"/>
    <p:sldId id="372" r:id="rId58"/>
    <p:sldId id="373" r:id="rId59"/>
    <p:sldId id="374" r:id="rId60"/>
    <p:sldId id="375" r:id="rId61"/>
    <p:sldId id="37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5"/>
    <p:restoredTop sz="94231"/>
  </p:normalViewPr>
  <p:slideViewPr>
    <p:cSldViewPr snapToGrid="0" snapToObjects="1">
      <p:cViewPr varScale="1">
        <p:scale>
          <a:sx n="145" d="100"/>
          <a:sy n="145" d="100"/>
        </p:scale>
        <p:origin x="200" y="7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Read Me First">
    <p:bg>
      <p:bgPr>
        <a:solidFill>
          <a:schemeClr val="accent6"/>
        </a:solidFill>
        <a:effectLst/>
      </p:bgPr>
    </p:bg>
    <p:spTree>
      <p:nvGrpSpPr>
        <p:cNvPr id="1" name=""/>
        <p:cNvGrpSpPr/>
        <p:nvPr/>
      </p:nvGrpSpPr>
      <p:grpSpPr>
        <a:xfrm>
          <a:off x="0" y="0"/>
          <a:ext cx="0" cy="0"/>
          <a:chOff x="0" y="0"/>
          <a:chExt cx="0" cy="0"/>
        </a:xfrm>
      </p:grpSpPr>
      <p:sp>
        <p:nvSpPr>
          <p:cNvPr id="14" name="Text Placeholder 14"/>
          <p:cNvSpPr>
            <a:spLocks noGrp="1"/>
          </p:cNvSpPr>
          <p:nvPr>
            <p:ph type="body" sz="quarter" idx="14" hasCustomPrompt="1"/>
          </p:nvPr>
        </p:nvSpPr>
        <p:spPr>
          <a:xfrm>
            <a:off x="616458" y="2209803"/>
            <a:ext cx="11046177" cy="748988"/>
          </a:xfrm>
          <a:prstGeom prst="rect">
            <a:avLst/>
          </a:prstGeom>
        </p:spPr>
        <p:txBody>
          <a:bodyPr wrap="square">
            <a:spAutoFit/>
          </a:bodyPr>
          <a:lstStyle>
            <a:lvl1pPr marL="0" indent="0" algn="ctr">
              <a:lnSpc>
                <a:spcPct val="100000"/>
              </a:lnSpc>
              <a:spcBef>
                <a:spcPts val="0"/>
              </a:spcBef>
              <a:buNone/>
              <a:defRPr sz="4267" b="1" baseline="0">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Read Me First</a:t>
            </a:r>
          </a:p>
        </p:txBody>
      </p:sp>
      <p:sp>
        <p:nvSpPr>
          <p:cNvPr id="17" name="Text Placeholder 12"/>
          <p:cNvSpPr>
            <a:spLocks noGrp="1"/>
          </p:cNvSpPr>
          <p:nvPr>
            <p:ph type="body" sz="quarter" idx="15" hasCustomPrompt="1"/>
          </p:nvPr>
        </p:nvSpPr>
        <p:spPr>
          <a:xfrm>
            <a:off x="812805" y="3657600"/>
            <a:ext cx="10507873" cy="1295400"/>
          </a:xfrm>
          <a:prstGeom prst="rect">
            <a:avLst/>
          </a:prstGeom>
        </p:spPr>
        <p:txBody>
          <a:bodyPr anchor="ctr">
            <a:normAutofit/>
          </a:bodyPr>
          <a:lstStyle>
            <a:lvl1pPr marL="0" indent="0" algn="ctr">
              <a:buNone/>
              <a:defRPr sz="2400" baseline="0">
                <a:solidFill>
                  <a:srgbClr val="FFFFFF"/>
                </a:solidFill>
                <a:latin typeface="Arial"/>
                <a:cs typeface="Arial"/>
              </a:defRPr>
            </a:lvl1pPr>
          </a:lstStyle>
          <a:p>
            <a:pPr lvl="0"/>
            <a:r>
              <a:rPr lang="en-US" dirty="0"/>
              <a:t>See notes on the left of slide </a:t>
            </a:r>
          </a:p>
        </p:txBody>
      </p:sp>
    </p:spTree>
    <p:custDataLst>
      <p:tags r:id="rId1"/>
    </p:custDataLst>
    <p:extLst>
      <p:ext uri="{BB962C8B-B14F-4D97-AF65-F5344CB8AC3E}">
        <p14:creationId xmlns:p14="http://schemas.microsoft.com/office/powerpoint/2010/main" val="3460737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1-Course Title Slide">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b="14429"/>
          <a:stretch/>
        </p:blipFill>
        <p:spPr>
          <a:xfrm>
            <a:off x="43543" y="2514600"/>
            <a:ext cx="12192000" cy="4343400"/>
          </a:xfrm>
          <a:prstGeom prst="rect">
            <a:avLst/>
          </a:prstGeom>
        </p:spPr>
      </p:pic>
      <p:sp>
        <p:nvSpPr>
          <p:cNvPr id="14" name="Text Placeholder 14"/>
          <p:cNvSpPr>
            <a:spLocks noGrp="1"/>
          </p:cNvSpPr>
          <p:nvPr>
            <p:ph type="body" sz="quarter" idx="14" hasCustomPrompt="1"/>
          </p:nvPr>
        </p:nvSpPr>
        <p:spPr>
          <a:xfrm>
            <a:off x="616458" y="2209803"/>
            <a:ext cx="11046177" cy="748988"/>
          </a:xfrm>
          <a:prstGeom prst="rect">
            <a:avLst/>
          </a:prstGeom>
        </p:spPr>
        <p:txBody>
          <a:bodyPr wrap="square">
            <a:spAutoFit/>
          </a:bodyPr>
          <a:lstStyle>
            <a:lvl1pPr marL="0" indent="0" algn="ctr">
              <a:lnSpc>
                <a:spcPct val="100000"/>
              </a:lnSpc>
              <a:spcBef>
                <a:spcPts val="0"/>
              </a:spcBef>
              <a:buNone/>
              <a:defRPr sz="4267" b="1" baseline="0">
                <a:solidFill>
                  <a:srgbClr val="0099CC"/>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Course Title</a:t>
            </a:r>
          </a:p>
        </p:txBody>
      </p:sp>
      <p:sp>
        <p:nvSpPr>
          <p:cNvPr id="17" name="Text Placeholder 12"/>
          <p:cNvSpPr>
            <a:spLocks noGrp="1"/>
          </p:cNvSpPr>
          <p:nvPr>
            <p:ph type="body" sz="quarter" idx="15" hasCustomPrompt="1"/>
          </p:nvPr>
        </p:nvSpPr>
        <p:spPr>
          <a:xfrm>
            <a:off x="812805" y="3657600"/>
            <a:ext cx="10507873" cy="446088"/>
          </a:xfrm>
          <a:prstGeom prst="rect">
            <a:avLst/>
          </a:prstGeom>
        </p:spPr>
        <p:txBody>
          <a:bodyPr anchor="ctr">
            <a:normAutofit/>
          </a:bodyPr>
          <a:lstStyle>
            <a:lvl1pPr marL="0" indent="0" algn="ctr">
              <a:buNone/>
              <a:defRPr sz="2400" baseline="0">
                <a:solidFill>
                  <a:srgbClr val="FFFFFF"/>
                </a:solidFill>
                <a:latin typeface="Arial"/>
                <a:cs typeface="Arial"/>
              </a:defRPr>
            </a:lvl1pPr>
          </a:lstStyle>
          <a:p>
            <a:pPr lvl="0"/>
            <a:r>
              <a:rPr lang="en-US" dirty="0"/>
              <a:t>Sub Topic Title</a:t>
            </a:r>
          </a:p>
        </p:txBody>
      </p:sp>
      <p:pic>
        <p:nvPicPr>
          <p:cNvPr id="18" name="Picture 17"/>
          <p:cNvPicPr>
            <a:picLocks noChangeAspect="1"/>
          </p:cNvPicPr>
          <p:nvPr userDrawn="1"/>
        </p:nvPicPr>
        <p:blipFill rotWithShape="1">
          <a:blip r:embed="rId4">
            <a:extLst>
              <a:ext uri="{28A0092B-C50C-407E-A947-70E740481C1C}">
                <a14:useLocalDpi xmlns:a14="http://schemas.microsoft.com/office/drawing/2010/main" val="0"/>
              </a:ext>
            </a:extLst>
          </a:blip>
          <a:srcRect b="7192"/>
          <a:stretch/>
        </p:blipFill>
        <p:spPr>
          <a:xfrm>
            <a:off x="4286201" y="4038600"/>
            <a:ext cx="7891289" cy="2839093"/>
          </a:xfrm>
          <a:prstGeom prst="rect">
            <a:avLst/>
          </a:prstGeom>
        </p:spPr>
      </p:pic>
      <p:cxnSp>
        <p:nvCxnSpPr>
          <p:cNvPr id="24" name="Straight Connector 23"/>
          <p:cNvCxnSpPr/>
          <p:nvPr userDrawn="1"/>
        </p:nvCxnSpPr>
        <p:spPr>
          <a:xfrm>
            <a:off x="812805" y="3505200"/>
            <a:ext cx="10507873" cy="0"/>
          </a:xfrm>
          <a:prstGeom prst="line">
            <a:avLst/>
          </a:prstGeom>
          <a:ln w="6350" cmpd="sng">
            <a:gradFill flip="none" rotWithShape="1">
              <a:gsLst>
                <a:gs pos="0">
                  <a:srgbClr val="0099FF"/>
                </a:gs>
                <a:gs pos="100000">
                  <a:srgbClr val="008000"/>
                </a:gs>
              </a:gsLst>
              <a:lin ang="0" scaled="1"/>
              <a:tileRect/>
            </a:gradFill>
            <a:bevel/>
          </a:ln>
          <a:effectLst/>
        </p:spPr>
        <p:style>
          <a:lnRef idx="2">
            <a:schemeClr val="accent1"/>
          </a:lnRef>
          <a:fillRef idx="0">
            <a:schemeClr val="accent1"/>
          </a:fillRef>
          <a:effectRef idx="1">
            <a:schemeClr val="accent1"/>
          </a:effectRef>
          <a:fontRef idx="minor">
            <a:schemeClr val="tx1"/>
          </a:fontRef>
        </p:style>
      </p:cxnSp>
      <p:pic>
        <p:nvPicPr>
          <p:cNvPr id="2050"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534400" y="279401"/>
            <a:ext cx="3242733" cy="910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76864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2-Generate Interes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Generate interest</a:t>
            </a:r>
          </a:p>
        </p:txBody>
      </p:sp>
      <p:sp>
        <p:nvSpPr>
          <p:cNvPr id="5" name="Text Placeholder 4"/>
          <p:cNvSpPr>
            <a:spLocks noGrp="1"/>
          </p:cNvSpPr>
          <p:nvPr>
            <p:ph type="body" sz="quarter" idx="13" hasCustomPrompt="1"/>
          </p:nvPr>
        </p:nvSpPr>
        <p:spPr>
          <a:xfrm>
            <a:off x="508000" y="1137831"/>
            <a:ext cx="11176000" cy="4622800"/>
          </a:xfrm>
          <a:prstGeom prst="rect">
            <a:avLst/>
          </a:prstGeom>
        </p:spPr>
        <p:txBody>
          <a:bodyPr vert="horz">
            <a:normAutofit/>
          </a:bodyPr>
          <a:lstStyle>
            <a:lvl1pPr marL="0" indent="0">
              <a:buNone/>
              <a:defRPr sz="3733" baseline="0">
                <a:solidFill>
                  <a:schemeClr val="bg2"/>
                </a:solidFill>
              </a:defRPr>
            </a:lvl1pPr>
            <a:lvl2pPr marL="304792" indent="-302676">
              <a:buClr>
                <a:schemeClr val="accent2"/>
              </a:buClr>
              <a:buFont typeface="Arial"/>
              <a:buChar char="•"/>
              <a:defRPr sz="3200">
                <a:solidFill>
                  <a:schemeClr val="bg2"/>
                </a:solidFill>
              </a:defRPr>
            </a:lvl2pPr>
            <a:lvl3pPr marL="383108" indent="-222245">
              <a:buClr>
                <a:schemeClr val="accent2"/>
              </a:buClr>
              <a:buFont typeface="Arial"/>
              <a:buChar char="•"/>
              <a:defRPr sz="2667">
                <a:solidFill>
                  <a:schemeClr val="bg2"/>
                </a:solidFill>
              </a:defRPr>
            </a:lvl3pPr>
            <a:lvl4pPr marL="524920" indent="-234945">
              <a:buClr>
                <a:schemeClr val="accent2"/>
              </a:buClr>
              <a:buFont typeface="Arial"/>
              <a:buChar char="•"/>
              <a:defRPr sz="2400">
                <a:solidFill>
                  <a:schemeClr val="bg2"/>
                </a:solidFill>
              </a:defRPr>
            </a:lvl4pPr>
            <a:lvl5pPr marL="683667" indent="-234945">
              <a:buClr>
                <a:schemeClr val="accent2"/>
              </a:buClr>
              <a:buFont typeface="Arial"/>
              <a:buChar char="•"/>
              <a:defRPr sz="2400">
                <a:solidFill>
                  <a:schemeClr val="bg2"/>
                </a:solidFill>
              </a:defRPr>
            </a:lvl5pPr>
          </a:lstStyle>
          <a:p>
            <a:pPr lvl="0"/>
            <a:r>
              <a:rPr lang="en-US" dirty="0"/>
              <a:t>Click to add text</a:t>
            </a:r>
          </a:p>
        </p:txBody>
      </p:sp>
    </p:spTree>
    <p:custDataLst>
      <p:tags r:id="rId1"/>
    </p:custDataLst>
    <p:extLst>
      <p:ext uri="{BB962C8B-B14F-4D97-AF65-F5344CB8AC3E}">
        <p14:creationId xmlns:p14="http://schemas.microsoft.com/office/powerpoint/2010/main" val="1487092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3_Terminal Objectiv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Terminal Objective</a:t>
            </a:r>
          </a:p>
        </p:txBody>
      </p:sp>
      <p:sp>
        <p:nvSpPr>
          <p:cNvPr id="5" name="Text Placeholder 4"/>
          <p:cNvSpPr>
            <a:spLocks noGrp="1"/>
          </p:cNvSpPr>
          <p:nvPr>
            <p:ph type="body" sz="quarter" idx="13" hasCustomPrompt="1"/>
          </p:nvPr>
        </p:nvSpPr>
        <p:spPr>
          <a:xfrm>
            <a:off x="508000" y="1137831"/>
            <a:ext cx="11176000" cy="4622800"/>
          </a:xfrm>
          <a:prstGeom prst="rect">
            <a:avLst/>
          </a:prstGeom>
        </p:spPr>
        <p:txBody>
          <a:bodyPr vert="horz">
            <a:normAutofit/>
          </a:bodyPr>
          <a:lstStyle>
            <a:lvl1pPr marL="0" indent="0">
              <a:buNone/>
              <a:defRPr sz="3733" baseline="0">
                <a:solidFill>
                  <a:schemeClr val="bg2"/>
                </a:solidFill>
              </a:defRPr>
            </a:lvl1pPr>
            <a:lvl2pPr marL="304792" indent="-302676">
              <a:buClr>
                <a:schemeClr val="accent2"/>
              </a:buClr>
              <a:buFont typeface="Arial"/>
              <a:buChar char="•"/>
              <a:defRPr sz="3200">
                <a:solidFill>
                  <a:schemeClr val="bg2"/>
                </a:solidFill>
              </a:defRPr>
            </a:lvl2pPr>
            <a:lvl3pPr marL="383108" indent="-222245">
              <a:buClr>
                <a:schemeClr val="accent2"/>
              </a:buClr>
              <a:buFont typeface="Arial"/>
              <a:buChar char="•"/>
              <a:defRPr sz="2667">
                <a:solidFill>
                  <a:schemeClr val="bg2"/>
                </a:solidFill>
              </a:defRPr>
            </a:lvl3pPr>
            <a:lvl4pPr marL="524920" indent="-234945">
              <a:buClr>
                <a:schemeClr val="accent2"/>
              </a:buClr>
              <a:buFont typeface="Arial"/>
              <a:buChar char="•"/>
              <a:defRPr sz="2400">
                <a:solidFill>
                  <a:schemeClr val="bg2"/>
                </a:solidFill>
              </a:defRPr>
            </a:lvl4pPr>
            <a:lvl5pPr marL="683667" indent="-234945">
              <a:buClr>
                <a:schemeClr val="accent2"/>
              </a:buClr>
              <a:buFont typeface="Arial"/>
              <a:buChar char="•"/>
              <a:defRPr sz="2400">
                <a:solidFill>
                  <a:schemeClr val="bg2"/>
                </a:solidFill>
              </a:defRPr>
            </a:lvl5pPr>
          </a:lstStyle>
          <a:p>
            <a:pPr lvl="0"/>
            <a:r>
              <a:rPr lang="en-US" dirty="0"/>
              <a:t>Click to add text</a:t>
            </a:r>
          </a:p>
        </p:txBody>
      </p:sp>
    </p:spTree>
    <p:custDataLst>
      <p:tags r:id="rId1"/>
    </p:custDataLst>
    <p:extLst>
      <p:ext uri="{BB962C8B-B14F-4D97-AF65-F5344CB8AC3E}">
        <p14:creationId xmlns:p14="http://schemas.microsoft.com/office/powerpoint/2010/main" val="3797889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4_Establish Need and Benefi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Need and/or Benefits</a:t>
            </a:r>
          </a:p>
        </p:txBody>
      </p:sp>
      <p:sp>
        <p:nvSpPr>
          <p:cNvPr id="5" name="Text Placeholder 4"/>
          <p:cNvSpPr>
            <a:spLocks noGrp="1"/>
          </p:cNvSpPr>
          <p:nvPr>
            <p:ph type="body" sz="quarter" idx="13"/>
          </p:nvPr>
        </p:nvSpPr>
        <p:spPr>
          <a:xfrm>
            <a:off x="508000" y="1137831"/>
            <a:ext cx="11176000" cy="4622800"/>
          </a:xfrm>
          <a:prstGeom prst="rect">
            <a:avLst/>
          </a:prstGeom>
        </p:spPr>
        <p:txBody>
          <a:bodyPr vert="horz">
            <a:normAutofit/>
          </a:bodyPr>
          <a:lstStyle>
            <a:lvl1pPr marL="0" indent="0">
              <a:buNone/>
              <a:defRPr sz="3733" baseline="0">
                <a:solidFill>
                  <a:schemeClr val="bg2"/>
                </a:solidFill>
              </a:defRPr>
            </a:lvl1pPr>
            <a:lvl2pPr marL="304792" indent="-302676">
              <a:buClr>
                <a:schemeClr val="accent2"/>
              </a:buClr>
              <a:buFont typeface="Arial"/>
              <a:buChar char="•"/>
              <a:defRPr sz="3200">
                <a:solidFill>
                  <a:schemeClr val="bg2"/>
                </a:solidFill>
              </a:defRPr>
            </a:lvl2pPr>
            <a:lvl3pPr marL="383108" indent="-222245">
              <a:buClr>
                <a:schemeClr val="accent2"/>
              </a:buClr>
              <a:buFont typeface="Arial"/>
              <a:buChar char="•"/>
              <a:defRPr sz="2667">
                <a:solidFill>
                  <a:schemeClr val="bg2"/>
                </a:solidFill>
              </a:defRPr>
            </a:lvl3pPr>
            <a:lvl4pPr marL="524920" indent="-234945">
              <a:buClr>
                <a:schemeClr val="accent2"/>
              </a:buClr>
              <a:buFont typeface="Arial"/>
              <a:buChar char="•"/>
              <a:defRPr sz="2400">
                <a:solidFill>
                  <a:schemeClr val="bg2"/>
                </a:solidFill>
              </a:defRPr>
            </a:lvl4pPr>
            <a:lvl5pPr marL="683667" indent="-234945">
              <a:buClr>
                <a:schemeClr val="accent2"/>
              </a:buClr>
              <a:buFont typeface="Arial"/>
              <a:buChar char="•"/>
              <a:defRPr sz="2400">
                <a:solidFill>
                  <a:schemeClr val="bg2"/>
                </a:solidFill>
              </a:defRPr>
            </a:lvl5pPr>
          </a:lstStyle>
          <a:p>
            <a:pPr lvl="0"/>
            <a:endParaRPr lang="en-US" dirty="0"/>
          </a:p>
        </p:txBody>
      </p:sp>
    </p:spTree>
    <p:custDataLst>
      <p:tags r:id="rId1"/>
    </p:custDataLst>
    <p:extLst>
      <p:ext uri="{BB962C8B-B14F-4D97-AF65-F5344CB8AC3E}">
        <p14:creationId xmlns:p14="http://schemas.microsoft.com/office/powerpoint/2010/main" val="847817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5_Key Topic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Key Topics</a:t>
            </a:r>
          </a:p>
        </p:txBody>
      </p:sp>
      <p:sp>
        <p:nvSpPr>
          <p:cNvPr id="5" name="Text Placeholder 4"/>
          <p:cNvSpPr>
            <a:spLocks noGrp="1"/>
          </p:cNvSpPr>
          <p:nvPr>
            <p:ph type="body" sz="quarter" idx="13"/>
          </p:nvPr>
        </p:nvSpPr>
        <p:spPr>
          <a:xfrm>
            <a:off x="508000" y="1137831"/>
            <a:ext cx="11176000" cy="4622800"/>
          </a:xfrm>
          <a:prstGeom prst="rect">
            <a:avLst/>
          </a:prstGeom>
        </p:spPr>
        <p:txBody>
          <a:bodyPr vert="horz">
            <a:normAutofit/>
          </a:bodyPr>
          <a:lstStyle>
            <a:lvl1pPr marL="0" indent="0">
              <a:buNone/>
              <a:defRPr sz="3733" baseline="0">
                <a:solidFill>
                  <a:schemeClr val="bg2"/>
                </a:solidFill>
              </a:defRPr>
            </a:lvl1pPr>
            <a:lvl2pPr marL="304792" indent="-302676">
              <a:buClr>
                <a:schemeClr val="accent2"/>
              </a:buClr>
              <a:buFont typeface="Arial"/>
              <a:buChar char="•"/>
              <a:defRPr sz="3200">
                <a:solidFill>
                  <a:schemeClr val="bg2"/>
                </a:solidFill>
              </a:defRPr>
            </a:lvl2pPr>
            <a:lvl3pPr marL="383108" indent="-222245">
              <a:buClr>
                <a:schemeClr val="accent2"/>
              </a:buClr>
              <a:buFont typeface="Arial"/>
              <a:buChar char="•"/>
              <a:defRPr sz="2667">
                <a:solidFill>
                  <a:schemeClr val="bg2"/>
                </a:solidFill>
              </a:defRPr>
            </a:lvl3pPr>
            <a:lvl4pPr marL="524920" indent="-234945">
              <a:buClr>
                <a:schemeClr val="accent2"/>
              </a:buClr>
              <a:buFont typeface="Arial"/>
              <a:buChar char="•"/>
              <a:defRPr sz="2400">
                <a:solidFill>
                  <a:schemeClr val="bg2"/>
                </a:solidFill>
              </a:defRPr>
            </a:lvl4pPr>
            <a:lvl5pPr marL="683667" indent="-234945">
              <a:buClr>
                <a:schemeClr val="accent2"/>
              </a:buClr>
              <a:buFont typeface="Arial"/>
              <a:buChar char="•"/>
              <a:defRPr sz="2400">
                <a:solidFill>
                  <a:schemeClr val="bg2"/>
                </a:solidFill>
              </a:defRPr>
            </a:lvl5pPr>
          </a:lstStyle>
          <a:p>
            <a:pPr lvl="0"/>
            <a:endParaRPr lang="en-US" dirty="0"/>
          </a:p>
        </p:txBody>
      </p:sp>
    </p:spTree>
    <p:custDataLst>
      <p:tags r:id="rId1"/>
    </p:custDataLst>
    <p:extLst>
      <p:ext uri="{BB962C8B-B14F-4D97-AF65-F5344CB8AC3E}">
        <p14:creationId xmlns:p14="http://schemas.microsoft.com/office/powerpoint/2010/main" val="3407352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1-Module Title">
    <p:spTree>
      <p:nvGrpSpPr>
        <p:cNvPr id="1" name=""/>
        <p:cNvGrpSpPr/>
        <p:nvPr/>
      </p:nvGrpSpPr>
      <p:grpSpPr>
        <a:xfrm>
          <a:off x="0" y="0"/>
          <a:ext cx="0" cy="0"/>
          <a:chOff x="0" y="0"/>
          <a:chExt cx="0" cy="0"/>
        </a:xfrm>
      </p:grpSpPr>
      <p:cxnSp>
        <p:nvCxnSpPr>
          <p:cNvPr id="24" name="Straight Connector 23"/>
          <p:cNvCxnSpPr/>
          <p:nvPr userDrawn="1"/>
        </p:nvCxnSpPr>
        <p:spPr>
          <a:xfrm>
            <a:off x="0" y="3124200"/>
            <a:ext cx="12177485" cy="0"/>
          </a:xfrm>
          <a:prstGeom prst="line">
            <a:avLst/>
          </a:prstGeom>
          <a:ln w="1301750" cmpd="sng">
            <a:gradFill flip="none" rotWithShape="1">
              <a:gsLst>
                <a:gs pos="0">
                  <a:srgbClr val="0099FF"/>
                </a:gs>
                <a:gs pos="100000">
                  <a:srgbClr val="008000"/>
                </a:gs>
              </a:gsLst>
              <a:lin ang="0" scaled="1"/>
              <a:tileRect/>
            </a:gradFill>
            <a:bevel/>
          </a:ln>
          <a:effectLst/>
        </p:spPr>
        <p:style>
          <a:lnRef idx="2">
            <a:schemeClr val="accent1"/>
          </a:lnRef>
          <a:fillRef idx="0">
            <a:schemeClr val="accent1"/>
          </a:fillRef>
          <a:effectRef idx="1">
            <a:schemeClr val="accent1"/>
          </a:effectRef>
          <a:fontRef idx="minor">
            <a:schemeClr val="tx1"/>
          </a:fontRef>
        </p:style>
      </p:cxnSp>
      <p:sp>
        <p:nvSpPr>
          <p:cNvPr id="14" name="Text Placeholder 14"/>
          <p:cNvSpPr>
            <a:spLocks noGrp="1"/>
          </p:cNvSpPr>
          <p:nvPr>
            <p:ph type="body" sz="quarter" idx="14" hasCustomPrompt="1"/>
          </p:nvPr>
        </p:nvSpPr>
        <p:spPr>
          <a:xfrm>
            <a:off x="0" y="2819403"/>
            <a:ext cx="12177485" cy="748988"/>
          </a:xfrm>
          <a:prstGeom prst="rect">
            <a:avLst/>
          </a:prstGeom>
        </p:spPr>
        <p:txBody>
          <a:bodyPr wrap="square">
            <a:spAutoFit/>
          </a:bodyPr>
          <a:lstStyle>
            <a:lvl1pPr marL="0" indent="0" algn="ctr">
              <a:lnSpc>
                <a:spcPct val="100000"/>
              </a:lnSpc>
              <a:spcBef>
                <a:spcPts val="0"/>
              </a:spcBef>
              <a:buNone/>
              <a:defRPr sz="4267" b="1" baseline="0">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Module Title</a:t>
            </a:r>
          </a:p>
        </p:txBody>
      </p:sp>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b="14429"/>
          <a:stretch/>
        </p:blipFill>
        <p:spPr>
          <a:xfrm>
            <a:off x="0" y="1371600"/>
            <a:ext cx="12192000" cy="5486400"/>
          </a:xfrm>
          <a:prstGeom prst="rect">
            <a:avLst/>
          </a:prstGeom>
        </p:spPr>
      </p:pic>
    </p:spTree>
    <p:custDataLst>
      <p:tags r:id="rId1"/>
    </p:custDataLst>
    <p:extLst>
      <p:ext uri="{BB962C8B-B14F-4D97-AF65-F5344CB8AC3E}">
        <p14:creationId xmlns:p14="http://schemas.microsoft.com/office/powerpoint/2010/main" val="3973737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2_Black Backgroun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Slide Title – Black Background</a:t>
            </a:r>
          </a:p>
        </p:txBody>
      </p:sp>
      <p:sp>
        <p:nvSpPr>
          <p:cNvPr id="5" name="Text Placeholder 4"/>
          <p:cNvSpPr>
            <a:spLocks noGrp="1"/>
          </p:cNvSpPr>
          <p:nvPr>
            <p:ph type="body" sz="quarter" idx="13"/>
          </p:nvPr>
        </p:nvSpPr>
        <p:spPr>
          <a:xfrm>
            <a:off x="508000" y="1137831"/>
            <a:ext cx="11176000" cy="4622800"/>
          </a:xfrm>
          <a:prstGeom prst="rect">
            <a:avLst/>
          </a:prstGeom>
        </p:spPr>
        <p:txBody>
          <a:bodyPr vert="horz">
            <a:normAutofit/>
          </a:bodyPr>
          <a:lstStyle>
            <a:lvl1pPr marL="0" indent="0">
              <a:buNone/>
              <a:defRPr sz="3733">
                <a:solidFill>
                  <a:schemeClr val="bg2"/>
                </a:solidFill>
              </a:defRPr>
            </a:lvl1pPr>
            <a:lvl2pPr marL="304792" indent="-302676">
              <a:buClr>
                <a:schemeClr val="bg1"/>
              </a:buClr>
              <a:buFont typeface="Arial"/>
              <a:buChar char="•"/>
              <a:defRPr sz="3200">
                <a:solidFill>
                  <a:schemeClr val="bg2"/>
                </a:solidFill>
              </a:defRPr>
            </a:lvl2pPr>
            <a:lvl3pPr marL="383108" indent="-222245">
              <a:buClr>
                <a:schemeClr val="bg1"/>
              </a:buClr>
              <a:buFont typeface="Arial"/>
              <a:buChar char="•"/>
              <a:defRPr sz="2667">
                <a:solidFill>
                  <a:schemeClr val="bg2"/>
                </a:solidFill>
              </a:defRPr>
            </a:lvl3pPr>
            <a:lvl4pPr marL="524920" indent="-234945">
              <a:buClr>
                <a:schemeClr val="bg1"/>
              </a:buClr>
              <a:buFont typeface="Arial"/>
              <a:buChar char="•"/>
              <a:defRPr sz="2400">
                <a:solidFill>
                  <a:schemeClr val="bg2"/>
                </a:solidFill>
              </a:defRPr>
            </a:lvl4pPr>
            <a:lvl5pPr marL="683667" indent="-234945">
              <a:buClr>
                <a:schemeClr val="bg1"/>
              </a:buClr>
              <a:buFont typeface="Arial"/>
              <a:buChar char="•"/>
              <a:defRPr sz="2400">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550082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3_Dark Blue Activity slide">
    <p:bg>
      <p:bgPr>
        <a:solidFill>
          <a:srgbClr val="00206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Activity Slide -  dark blue – use only for activities</a:t>
            </a:r>
          </a:p>
        </p:txBody>
      </p:sp>
      <p:sp>
        <p:nvSpPr>
          <p:cNvPr id="5" name="Text Placeholder 4"/>
          <p:cNvSpPr>
            <a:spLocks noGrp="1"/>
          </p:cNvSpPr>
          <p:nvPr>
            <p:ph type="body" sz="quarter" idx="13"/>
          </p:nvPr>
        </p:nvSpPr>
        <p:spPr>
          <a:xfrm>
            <a:off x="508000" y="1137831"/>
            <a:ext cx="11176000" cy="4622800"/>
          </a:xfrm>
          <a:prstGeom prst="rect">
            <a:avLst/>
          </a:prstGeom>
        </p:spPr>
        <p:txBody>
          <a:bodyPr vert="horz">
            <a:normAutofit/>
          </a:bodyPr>
          <a:lstStyle>
            <a:lvl1pPr marL="0" indent="0">
              <a:buNone/>
              <a:defRPr sz="3733">
                <a:solidFill>
                  <a:schemeClr val="bg2"/>
                </a:solidFill>
              </a:defRPr>
            </a:lvl1pPr>
            <a:lvl2pPr marL="304792" indent="-302676">
              <a:buClr>
                <a:schemeClr val="bg1"/>
              </a:buClr>
              <a:buFont typeface="Arial"/>
              <a:buChar char="•"/>
              <a:defRPr sz="3200">
                <a:solidFill>
                  <a:schemeClr val="bg2"/>
                </a:solidFill>
              </a:defRPr>
            </a:lvl2pPr>
            <a:lvl3pPr marL="383108" indent="-222245">
              <a:buClr>
                <a:schemeClr val="bg1"/>
              </a:buClr>
              <a:buFont typeface="Arial"/>
              <a:buChar char="•"/>
              <a:defRPr sz="2667">
                <a:solidFill>
                  <a:schemeClr val="bg2"/>
                </a:solidFill>
              </a:defRPr>
            </a:lvl3pPr>
            <a:lvl4pPr marL="524920" indent="-234945">
              <a:buClr>
                <a:schemeClr val="bg1"/>
              </a:buClr>
              <a:buFont typeface="Arial"/>
              <a:buChar char="•"/>
              <a:defRPr sz="2400">
                <a:solidFill>
                  <a:schemeClr val="bg2"/>
                </a:solidFill>
              </a:defRPr>
            </a:lvl4pPr>
            <a:lvl5pPr marL="683667" indent="-234945">
              <a:buClr>
                <a:schemeClr val="bg1"/>
              </a:buClr>
              <a:buFont typeface="Arial"/>
              <a:buChar char="•"/>
              <a:defRPr sz="2400">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1777605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4_Recap or Review">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Recap or Review – use any color slide</a:t>
            </a:r>
          </a:p>
        </p:txBody>
      </p:sp>
      <p:sp>
        <p:nvSpPr>
          <p:cNvPr id="5" name="Text Placeholder 4"/>
          <p:cNvSpPr>
            <a:spLocks noGrp="1"/>
          </p:cNvSpPr>
          <p:nvPr>
            <p:ph type="body" sz="quarter" idx="13"/>
          </p:nvPr>
        </p:nvSpPr>
        <p:spPr>
          <a:xfrm>
            <a:off x="508000" y="1137831"/>
            <a:ext cx="11176000" cy="4622800"/>
          </a:xfrm>
          <a:prstGeom prst="rect">
            <a:avLst/>
          </a:prstGeom>
        </p:spPr>
        <p:txBody>
          <a:bodyPr vert="horz">
            <a:normAutofit/>
          </a:bodyPr>
          <a:lstStyle>
            <a:lvl1pPr marL="0" indent="0">
              <a:buNone/>
              <a:defRPr sz="3733">
                <a:solidFill>
                  <a:schemeClr val="bg2"/>
                </a:solidFill>
              </a:defRPr>
            </a:lvl1pPr>
            <a:lvl2pPr marL="304792" indent="-302676">
              <a:buClr>
                <a:schemeClr val="bg1"/>
              </a:buClr>
              <a:buFont typeface="Arial"/>
              <a:buChar char="•"/>
              <a:defRPr sz="3200">
                <a:solidFill>
                  <a:schemeClr val="bg2"/>
                </a:solidFill>
              </a:defRPr>
            </a:lvl2pPr>
            <a:lvl3pPr marL="383108" indent="-222245">
              <a:buClr>
                <a:schemeClr val="bg1"/>
              </a:buClr>
              <a:buFont typeface="Arial"/>
              <a:buChar char="•"/>
              <a:defRPr sz="2667">
                <a:solidFill>
                  <a:schemeClr val="bg2"/>
                </a:solidFill>
              </a:defRPr>
            </a:lvl3pPr>
            <a:lvl4pPr marL="524920" indent="-234945">
              <a:buClr>
                <a:schemeClr val="bg1"/>
              </a:buClr>
              <a:buFont typeface="Arial"/>
              <a:buChar char="•"/>
              <a:defRPr sz="2400">
                <a:solidFill>
                  <a:schemeClr val="bg2"/>
                </a:solidFill>
              </a:defRPr>
            </a:lvl4pPr>
            <a:lvl5pPr marL="683667" indent="-234945">
              <a:buClr>
                <a:schemeClr val="bg1"/>
              </a:buClr>
              <a:buFont typeface="Arial"/>
              <a:buChar char="•"/>
              <a:defRPr sz="2400">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277908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5_Light Blue Background">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Slide Title – Light Blue Background</a:t>
            </a:r>
          </a:p>
        </p:txBody>
      </p:sp>
      <p:sp>
        <p:nvSpPr>
          <p:cNvPr id="5" name="Text Placeholder 4"/>
          <p:cNvSpPr>
            <a:spLocks noGrp="1"/>
          </p:cNvSpPr>
          <p:nvPr>
            <p:ph type="body" sz="quarter" idx="13"/>
          </p:nvPr>
        </p:nvSpPr>
        <p:spPr>
          <a:xfrm>
            <a:off x="508000" y="1137831"/>
            <a:ext cx="11176000" cy="4622800"/>
          </a:xfrm>
          <a:prstGeom prst="rect">
            <a:avLst/>
          </a:prstGeom>
        </p:spPr>
        <p:txBody>
          <a:bodyPr vert="horz">
            <a:normAutofit/>
          </a:bodyPr>
          <a:lstStyle>
            <a:lvl1pPr marL="0" indent="0">
              <a:buNone/>
              <a:defRPr sz="3733">
                <a:solidFill>
                  <a:schemeClr val="bg2"/>
                </a:solidFill>
              </a:defRPr>
            </a:lvl1pPr>
            <a:lvl2pPr marL="304792" indent="-302676">
              <a:buClr>
                <a:schemeClr val="bg1"/>
              </a:buClr>
              <a:buFont typeface="Arial"/>
              <a:buChar char="•"/>
              <a:defRPr sz="3200">
                <a:solidFill>
                  <a:schemeClr val="bg2"/>
                </a:solidFill>
              </a:defRPr>
            </a:lvl2pPr>
            <a:lvl3pPr marL="383108" indent="-222245">
              <a:buClr>
                <a:schemeClr val="bg1"/>
              </a:buClr>
              <a:buFont typeface="Arial"/>
              <a:buChar char="•"/>
              <a:defRPr sz="2667">
                <a:solidFill>
                  <a:schemeClr val="bg2"/>
                </a:solidFill>
              </a:defRPr>
            </a:lvl3pPr>
            <a:lvl4pPr marL="524920" indent="-234945">
              <a:buClr>
                <a:schemeClr val="bg1"/>
              </a:buClr>
              <a:buFont typeface="Arial"/>
              <a:buChar char="•"/>
              <a:defRPr sz="2400">
                <a:solidFill>
                  <a:schemeClr val="bg2"/>
                </a:solidFill>
              </a:defRPr>
            </a:lvl4pPr>
            <a:lvl5pPr marL="683667" indent="-234945">
              <a:buClr>
                <a:schemeClr val="bg1"/>
              </a:buClr>
              <a:buFont typeface="Arial"/>
              <a:buChar char="•"/>
              <a:defRPr sz="2400">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571867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6_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a:solidFill>
                  <a:schemeClr val="tx2"/>
                </a:solidFill>
              </a:defRPr>
            </a:lvl1pPr>
          </a:lstStyle>
          <a:p>
            <a:r>
              <a:rPr lang="en-US" dirty="0"/>
              <a:t>Slide Title – White background</a:t>
            </a:r>
          </a:p>
        </p:txBody>
      </p:sp>
      <p:sp>
        <p:nvSpPr>
          <p:cNvPr id="5" name="Text Placeholder 4"/>
          <p:cNvSpPr>
            <a:spLocks noGrp="1"/>
          </p:cNvSpPr>
          <p:nvPr>
            <p:ph type="body" sz="quarter" idx="13"/>
          </p:nvPr>
        </p:nvSpPr>
        <p:spPr>
          <a:xfrm>
            <a:off x="508000" y="1137831"/>
            <a:ext cx="11176000" cy="4622800"/>
          </a:xfrm>
          <a:prstGeom prst="rect">
            <a:avLst/>
          </a:prstGeom>
        </p:spPr>
        <p:txBody>
          <a:bodyPr vert="horz">
            <a:normAutofit/>
          </a:bodyPr>
          <a:lstStyle>
            <a:lvl1pPr marL="0" indent="0">
              <a:buNone/>
              <a:defRPr sz="3733">
                <a:solidFill>
                  <a:schemeClr val="tx2"/>
                </a:solidFill>
              </a:defRPr>
            </a:lvl1pPr>
            <a:lvl2pPr marL="459305" indent="-457189">
              <a:buClrTx/>
              <a:buFont typeface="Arial" panose="020B0604020202020204" pitchFamily="34" charset="0"/>
              <a:buChar char="•"/>
              <a:defRPr sz="3200">
                <a:solidFill>
                  <a:schemeClr val="tx2"/>
                </a:solidFill>
              </a:defRPr>
            </a:lvl2pPr>
            <a:lvl3pPr marL="618051" indent="-457189">
              <a:buClrTx/>
              <a:buFont typeface="Arial" panose="020B0604020202020204" pitchFamily="34" charset="0"/>
              <a:buChar char="•"/>
              <a:defRPr sz="2667">
                <a:solidFill>
                  <a:schemeClr val="tx2"/>
                </a:solidFill>
              </a:defRPr>
            </a:lvl3pPr>
            <a:lvl4pPr marL="670966" indent="-380990">
              <a:buClrTx/>
              <a:buFont typeface="Arial" panose="020B0604020202020204" pitchFamily="34" charset="0"/>
              <a:buChar char="•"/>
              <a:defRPr sz="2400">
                <a:solidFill>
                  <a:schemeClr val="tx2"/>
                </a:solidFill>
              </a:defRPr>
            </a:lvl4pPr>
            <a:lvl5pPr marL="829713" indent="-380990">
              <a:buClrTx/>
              <a:buFont typeface="Arial" panose="020B0604020202020204" pitchFamily="34" charset="0"/>
              <a:buChar char="•"/>
              <a:defRPr sz="24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2367523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1_Check on Learning">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Check on learning -  any color slide </a:t>
            </a:r>
          </a:p>
        </p:txBody>
      </p:sp>
      <p:sp>
        <p:nvSpPr>
          <p:cNvPr id="5" name="Text Placeholder 4"/>
          <p:cNvSpPr>
            <a:spLocks noGrp="1"/>
          </p:cNvSpPr>
          <p:nvPr>
            <p:ph type="body" sz="quarter" idx="13"/>
          </p:nvPr>
        </p:nvSpPr>
        <p:spPr>
          <a:xfrm>
            <a:off x="508000" y="1137831"/>
            <a:ext cx="11176000" cy="4622800"/>
          </a:xfrm>
          <a:prstGeom prst="rect">
            <a:avLst/>
          </a:prstGeom>
        </p:spPr>
        <p:txBody>
          <a:bodyPr vert="horz">
            <a:normAutofit/>
          </a:bodyPr>
          <a:lstStyle>
            <a:lvl1pPr marL="0" indent="0">
              <a:buNone/>
              <a:defRPr sz="3733">
                <a:solidFill>
                  <a:schemeClr val="bg2"/>
                </a:solidFill>
              </a:defRPr>
            </a:lvl1pPr>
            <a:lvl2pPr marL="304792" indent="-302676">
              <a:buClr>
                <a:schemeClr val="bg1"/>
              </a:buClr>
              <a:buFont typeface="Arial"/>
              <a:buChar char="•"/>
              <a:defRPr sz="3200">
                <a:solidFill>
                  <a:schemeClr val="bg2"/>
                </a:solidFill>
              </a:defRPr>
            </a:lvl2pPr>
            <a:lvl3pPr marL="383108" indent="-222245">
              <a:buClr>
                <a:schemeClr val="bg1"/>
              </a:buClr>
              <a:buFont typeface="Arial"/>
              <a:buChar char="•"/>
              <a:defRPr sz="2667">
                <a:solidFill>
                  <a:schemeClr val="bg2"/>
                </a:solidFill>
              </a:defRPr>
            </a:lvl3pPr>
            <a:lvl4pPr marL="524920" indent="-234945">
              <a:buClr>
                <a:schemeClr val="bg1"/>
              </a:buClr>
              <a:buFont typeface="Arial"/>
              <a:buChar char="•"/>
              <a:defRPr sz="2400">
                <a:solidFill>
                  <a:schemeClr val="bg2"/>
                </a:solidFill>
              </a:defRPr>
            </a:lvl4pPr>
            <a:lvl5pPr marL="683667" indent="-234945">
              <a:buClr>
                <a:schemeClr val="bg1"/>
              </a:buClr>
              <a:buFont typeface="Arial"/>
              <a:buChar char="•"/>
              <a:defRPr sz="2400">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21108628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2_Restate Objectives">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Restate terminal objective - any color slide </a:t>
            </a:r>
          </a:p>
        </p:txBody>
      </p:sp>
      <p:sp>
        <p:nvSpPr>
          <p:cNvPr id="5" name="Text Placeholder 4"/>
          <p:cNvSpPr>
            <a:spLocks noGrp="1"/>
          </p:cNvSpPr>
          <p:nvPr>
            <p:ph type="body" sz="quarter" idx="13"/>
          </p:nvPr>
        </p:nvSpPr>
        <p:spPr>
          <a:xfrm>
            <a:off x="508000" y="1137831"/>
            <a:ext cx="11176000" cy="4622800"/>
          </a:xfrm>
          <a:prstGeom prst="rect">
            <a:avLst/>
          </a:prstGeom>
        </p:spPr>
        <p:txBody>
          <a:bodyPr vert="horz">
            <a:normAutofit/>
          </a:bodyPr>
          <a:lstStyle>
            <a:lvl1pPr marL="0" indent="0">
              <a:buNone/>
              <a:defRPr sz="3733">
                <a:solidFill>
                  <a:schemeClr val="bg2"/>
                </a:solidFill>
              </a:defRPr>
            </a:lvl1pPr>
            <a:lvl2pPr marL="304792" indent="-302676">
              <a:buClr>
                <a:schemeClr val="bg1"/>
              </a:buClr>
              <a:buFont typeface="Arial"/>
              <a:buChar char="•"/>
              <a:defRPr sz="3200">
                <a:solidFill>
                  <a:schemeClr val="bg2"/>
                </a:solidFill>
              </a:defRPr>
            </a:lvl2pPr>
            <a:lvl3pPr marL="383108" indent="-222245">
              <a:buClr>
                <a:schemeClr val="bg1"/>
              </a:buClr>
              <a:buFont typeface="Arial"/>
              <a:buChar char="•"/>
              <a:defRPr sz="2667">
                <a:solidFill>
                  <a:schemeClr val="bg2"/>
                </a:solidFill>
              </a:defRPr>
            </a:lvl3pPr>
            <a:lvl4pPr marL="524920" indent="-234945">
              <a:buClr>
                <a:schemeClr val="bg1"/>
              </a:buClr>
              <a:buFont typeface="Arial"/>
              <a:buChar char="•"/>
              <a:defRPr sz="2400">
                <a:solidFill>
                  <a:schemeClr val="bg2"/>
                </a:solidFill>
              </a:defRPr>
            </a:lvl4pPr>
            <a:lvl5pPr marL="683667" indent="-234945">
              <a:buClr>
                <a:schemeClr val="bg1"/>
              </a:buClr>
              <a:buFont typeface="Arial"/>
              <a:buChar char="•"/>
              <a:defRPr sz="2400">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58179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3_Ask Questions ">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7785" y="330261"/>
            <a:ext cx="11186220" cy="607259"/>
          </a:xfrm>
          <a:prstGeom prst="rect">
            <a:avLst/>
          </a:prstGeom>
        </p:spPr>
        <p:txBody>
          <a:bodyPr/>
          <a:lstStyle>
            <a:lvl1pPr>
              <a:defRPr sz="2667" b="1" baseline="0">
                <a:solidFill>
                  <a:schemeClr val="bg1"/>
                </a:solidFill>
              </a:defRPr>
            </a:lvl1pPr>
          </a:lstStyle>
          <a:p>
            <a:r>
              <a:rPr lang="en-US" dirty="0"/>
              <a:t>Ask learner-centered questions - any color slide </a:t>
            </a:r>
          </a:p>
        </p:txBody>
      </p:sp>
      <p:sp>
        <p:nvSpPr>
          <p:cNvPr id="5" name="Text Placeholder 4"/>
          <p:cNvSpPr>
            <a:spLocks noGrp="1"/>
          </p:cNvSpPr>
          <p:nvPr>
            <p:ph type="body" sz="quarter" idx="13"/>
          </p:nvPr>
        </p:nvSpPr>
        <p:spPr>
          <a:xfrm>
            <a:off x="508000" y="1137831"/>
            <a:ext cx="11176000" cy="4622800"/>
          </a:xfrm>
          <a:prstGeom prst="rect">
            <a:avLst/>
          </a:prstGeom>
        </p:spPr>
        <p:txBody>
          <a:bodyPr vert="horz">
            <a:normAutofit/>
          </a:bodyPr>
          <a:lstStyle>
            <a:lvl1pPr marL="0" indent="0">
              <a:buNone/>
              <a:defRPr sz="3733">
                <a:solidFill>
                  <a:schemeClr val="bg2"/>
                </a:solidFill>
              </a:defRPr>
            </a:lvl1pPr>
            <a:lvl2pPr marL="304792" indent="-302676">
              <a:buClr>
                <a:schemeClr val="bg1"/>
              </a:buClr>
              <a:buFont typeface="Arial"/>
              <a:buChar char="•"/>
              <a:defRPr sz="3200">
                <a:solidFill>
                  <a:schemeClr val="bg2"/>
                </a:solidFill>
              </a:defRPr>
            </a:lvl2pPr>
            <a:lvl3pPr marL="383108" indent="-222245">
              <a:buClr>
                <a:schemeClr val="bg1"/>
              </a:buClr>
              <a:buFont typeface="Arial"/>
              <a:buChar char="•"/>
              <a:defRPr sz="2667">
                <a:solidFill>
                  <a:schemeClr val="bg2"/>
                </a:solidFill>
              </a:defRPr>
            </a:lvl3pPr>
            <a:lvl4pPr marL="524920" indent="-234945">
              <a:buClr>
                <a:schemeClr val="bg1"/>
              </a:buClr>
              <a:buFont typeface="Arial"/>
              <a:buChar char="•"/>
              <a:defRPr sz="2400">
                <a:solidFill>
                  <a:schemeClr val="bg2"/>
                </a:solidFill>
              </a:defRPr>
            </a:lvl4pPr>
            <a:lvl5pPr marL="683667" indent="-234945">
              <a:buClr>
                <a:schemeClr val="bg1"/>
              </a:buClr>
              <a:buFont typeface="Arial"/>
              <a:buChar char="•"/>
              <a:defRPr sz="2400">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157829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4_Thank you">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b="14429"/>
          <a:stretch/>
        </p:blipFill>
        <p:spPr>
          <a:xfrm>
            <a:off x="0" y="2518348"/>
            <a:ext cx="12192000" cy="4343400"/>
          </a:xfrm>
          <a:prstGeom prst="rect">
            <a:avLst/>
          </a:prstGeom>
        </p:spPr>
      </p:pic>
      <p:sp>
        <p:nvSpPr>
          <p:cNvPr id="2" name="Title 1"/>
          <p:cNvSpPr>
            <a:spLocks noGrp="1"/>
          </p:cNvSpPr>
          <p:nvPr>
            <p:ph type="title" hasCustomPrompt="1"/>
          </p:nvPr>
        </p:nvSpPr>
        <p:spPr>
          <a:xfrm>
            <a:off x="1117605" y="800325"/>
            <a:ext cx="4821529" cy="607259"/>
          </a:xfrm>
          <a:prstGeom prst="rect">
            <a:avLst/>
          </a:prstGeom>
        </p:spPr>
        <p:txBody>
          <a:bodyPr>
            <a:normAutofit/>
          </a:bodyPr>
          <a:lstStyle>
            <a:lvl1pPr>
              <a:defRPr sz="5333">
                <a:solidFill>
                  <a:schemeClr val="bg2"/>
                </a:solidFill>
              </a:defRPr>
            </a:lvl1pPr>
          </a:lstStyle>
          <a:p>
            <a:r>
              <a:rPr lang="en-US" dirty="0"/>
              <a:t>Thank you</a:t>
            </a:r>
          </a:p>
        </p:txBody>
      </p:sp>
      <p:pic>
        <p:nvPicPr>
          <p:cNvPr id="15" name="Picture 14"/>
          <p:cNvPicPr>
            <a:picLocks noChangeAspect="1"/>
          </p:cNvPicPr>
          <p:nvPr userDrawn="1"/>
        </p:nvPicPr>
        <p:blipFill rotWithShape="1">
          <a:blip r:embed="rId4">
            <a:extLst>
              <a:ext uri="{28A0092B-C50C-407E-A947-70E740481C1C}">
                <a14:useLocalDpi xmlns:a14="http://schemas.microsoft.com/office/drawing/2010/main" val="0"/>
              </a:ext>
            </a:extLst>
          </a:blip>
          <a:srcRect b="7192"/>
          <a:stretch/>
        </p:blipFill>
        <p:spPr>
          <a:xfrm>
            <a:off x="4286201" y="4018908"/>
            <a:ext cx="7891289" cy="2839093"/>
          </a:xfrm>
          <a:prstGeom prst="rect">
            <a:avLst/>
          </a:prstGeom>
        </p:spPr>
      </p:pic>
      <p:sp>
        <p:nvSpPr>
          <p:cNvPr id="8" name="Text Placeholder 7"/>
          <p:cNvSpPr>
            <a:spLocks noGrp="1"/>
          </p:cNvSpPr>
          <p:nvPr>
            <p:ph type="body" sz="quarter" idx="10" hasCustomPrompt="1"/>
          </p:nvPr>
        </p:nvSpPr>
        <p:spPr>
          <a:xfrm>
            <a:off x="1118199" y="1598705"/>
            <a:ext cx="4845051" cy="1924051"/>
          </a:xfrm>
          <a:prstGeom prst="rect">
            <a:avLst/>
          </a:prstGeom>
        </p:spPr>
        <p:txBody>
          <a:bodyPr vert="horz">
            <a:normAutofit/>
          </a:bodyPr>
          <a:lstStyle>
            <a:lvl1pPr marL="0" indent="0">
              <a:buNone/>
              <a:defRPr sz="3200">
                <a:solidFill>
                  <a:schemeClr val="bg2"/>
                </a:solidFill>
              </a:defRPr>
            </a:lvl1pPr>
            <a:lvl2pPr marL="609585" indent="0">
              <a:buNone/>
              <a:defRPr>
                <a:solidFill>
                  <a:srgbClr val="141414"/>
                </a:solidFill>
              </a:defRPr>
            </a:lvl2pPr>
            <a:lvl3pPr marL="1219170" indent="0">
              <a:buNone/>
              <a:defRPr>
                <a:solidFill>
                  <a:srgbClr val="141414"/>
                </a:solidFill>
              </a:defRPr>
            </a:lvl3pPr>
            <a:lvl4pPr marL="1828754" indent="0">
              <a:buNone/>
              <a:defRPr>
                <a:solidFill>
                  <a:srgbClr val="141414"/>
                </a:solidFill>
              </a:defRPr>
            </a:lvl4pPr>
            <a:lvl5pPr marL="2438339" indent="0">
              <a:buNone/>
              <a:defRPr>
                <a:solidFill>
                  <a:srgbClr val="141414"/>
                </a:solidFill>
              </a:defRPr>
            </a:lvl5pPr>
          </a:lstStyle>
          <a:p>
            <a:pPr lvl="0"/>
            <a:r>
              <a:rPr lang="en-US" dirty="0"/>
              <a:t>Name</a:t>
            </a:r>
          </a:p>
          <a:p>
            <a:pPr lvl="0"/>
            <a:r>
              <a:rPr lang="en-US" dirty="0"/>
              <a:t>ID</a:t>
            </a:r>
            <a:br>
              <a:rPr lang="en-US" dirty="0"/>
            </a:br>
            <a:r>
              <a:rPr lang="en-US" dirty="0"/>
              <a:t>Email</a:t>
            </a:r>
          </a:p>
        </p:txBody>
      </p:sp>
    </p:spTree>
    <p:custDataLst>
      <p:tags r:id="rId1"/>
    </p:custDataLst>
    <p:extLst>
      <p:ext uri="{BB962C8B-B14F-4D97-AF65-F5344CB8AC3E}">
        <p14:creationId xmlns:p14="http://schemas.microsoft.com/office/powerpoint/2010/main" val="4119385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 White Background">
    <p:bg>
      <p:bgPr>
        <a:solidFill>
          <a:schemeClr val="bg1"/>
        </a:solidFill>
        <a:effectLst/>
      </p:bgPr>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3610405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 Black Backgroun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53906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0E2D3F"/>
            </a:gs>
            <a:gs pos="100000">
              <a:srgbClr val="0A0D16"/>
            </a:gs>
          </a:gsLst>
          <a:lin ang="5400000" scaled="0"/>
          <a:tileRect/>
        </a:gradFill>
        <a:effectLst/>
      </p:bgPr>
    </p:bg>
    <p:spTree>
      <p:nvGrpSpPr>
        <p:cNvPr id="1" name=""/>
        <p:cNvGrpSpPr/>
        <p:nvPr/>
      </p:nvGrpSpPr>
      <p:grpSpPr>
        <a:xfrm>
          <a:off x="0" y="0"/>
          <a:ext cx="0" cy="0"/>
          <a:chOff x="0" y="0"/>
          <a:chExt cx="0" cy="0"/>
        </a:xfrm>
      </p:grpSpPr>
    </p:spTree>
    <p:custDataLst>
      <p:tags r:id="rId20"/>
    </p:custDataLst>
    <p:extLst>
      <p:ext uri="{BB962C8B-B14F-4D97-AF65-F5344CB8AC3E}">
        <p14:creationId xmlns:p14="http://schemas.microsoft.com/office/powerpoint/2010/main" val="34853245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ftr="0" dt="0"/>
  <p:txStyles>
    <p:titleStyle>
      <a:lvl1pPr algn="l" defTabSz="609585" rtl="0" eaLnBrk="1" latinLnBrk="0" hangingPunct="1">
        <a:spcBef>
          <a:spcPct val="0"/>
        </a:spcBef>
        <a:buNone/>
        <a:defRPr sz="3733" kern="1200">
          <a:solidFill>
            <a:srgbClr val="0099CC"/>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2AAF2F-C508-FE49-A431-ED813D94532D}"/>
              </a:ext>
            </a:extLst>
          </p:cNvPr>
          <p:cNvSpPr>
            <a:spLocks noGrp="1"/>
          </p:cNvSpPr>
          <p:nvPr>
            <p:ph type="body" sz="quarter" idx="14"/>
          </p:nvPr>
        </p:nvSpPr>
        <p:spPr/>
        <p:txBody>
          <a:bodyPr/>
          <a:lstStyle/>
          <a:p>
            <a:r>
              <a:rPr lang="en-US" dirty="0"/>
              <a:t>Scrum Product Owner</a:t>
            </a:r>
          </a:p>
        </p:txBody>
      </p:sp>
      <p:sp>
        <p:nvSpPr>
          <p:cNvPr id="3" name="Text Placeholder 2">
            <a:extLst>
              <a:ext uri="{FF2B5EF4-FFF2-40B4-BE49-F238E27FC236}">
                <a16:creationId xmlns:a16="http://schemas.microsoft.com/office/drawing/2014/main" id="{7CADB2AA-EE7F-714D-A938-F66961039E7D}"/>
              </a:ext>
            </a:extLst>
          </p:cNvPr>
          <p:cNvSpPr>
            <a:spLocks noGrp="1"/>
          </p:cNvSpPr>
          <p:nvPr>
            <p:ph type="body" sz="quarter" idx="15"/>
          </p:nvPr>
        </p:nvSpPr>
        <p:spPr>
          <a:xfrm>
            <a:off x="812805" y="3657600"/>
            <a:ext cx="10507873" cy="808892"/>
          </a:xfrm>
        </p:spPr>
        <p:txBody>
          <a:bodyPr/>
          <a:lstStyle/>
          <a:p>
            <a:r>
              <a:rPr lang="en-US" dirty="0"/>
              <a:t>June 17, 2020</a:t>
            </a:r>
          </a:p>
          <a:p>
            <a:r>
              <a:rPr lang="en-US" dirty="0"/>
              <a:t>Michael Gaffney (670800)</a:t>
            </a:r>
          </a:p>
        </p:txBody>
      </p:sp>
    </p:spTree>
    <p:extLst>
      <p:ext uri="{BB962C8B-B14F-4D97-AF65-F5344CB8AC3E}">
        <p14:creationId xmlns:p14="http://schemas.microsoft.com/office/powerpoint/2010/main" val="1805830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EAC70-22F1-ED4E-89CB-CD28F965127D}"/>
              </a:ext>
            </a:extLst>
          </p:cNvPr>
          <p:cNvSpPr>
            <a:spLocks noGrp="1"/>
          </p:cNvSpPr>
          <p:nvPr>
            <p:ph type="title"/>
          </p:nvPr>
        </p:nvSpPr>
        <p:spPr/>
        <p:txBody>
          <a:bodyPr/>
          <a:lstStyle/>
          <a:p>
            <a:r>
              <a:rPr lang="en-US" dirty="0"/>
              <a:t>Purpose</a:t>
            </a:r>
          </a:p>
        </p:txBody>
      </p:sp>
      <p:sp>
        <p:nvSpPr>
          <p:cNvPr id="3" name="Text Placeholder 2">
            <a:extLst>
              <a:ext uri="{FF2B5EF4-FFF2-40B4-BE49-F238E27FC236}">
                <a16:creationId xmlns:a16="http://schemas.microsoft.com/office/drawing/2014/main" id="{F3872A93-AB19-B24C-844E-00A4A7FEC78A}"/>
              </a:ext>
            </a:extLst>
          </p:cNvPr>
          <p:cNvSpPr>
            <a:spLocks noGrp="1"/>
          </p:cNvSpPr>
          <p:nvPr>
            <p:ph type="body" sz="quarter" idx="13"/>
          </p:nvPr>
        </p:nvSpPr>
        <p:spPr/>
        <p:txBody>
          <a:bodyPr/>
          <a:lstStyle/>
          <a:p>
            <a:r>
              <a:rPr lang="en-US" dirty="0"/>
              <a:t>The intent of this short session is to review the role of the Product Owner in Scrum and to discuss a number of real-world-style situations a Product Owner may encounter.</a:t>
            </a:r>
          </a:p>
          <a:p>
            <a:endParaRPr lang="en-US" dirty="0"/>
          </a:p>
          <a:p>
            <a:r>
              <a:rPr lang="en-US" dirty="0"/>
              <a:t>This session is not intended as preparation for any Product Owner certification.</a:t>
            </a:r>
          </a:p>
        </p:txBody>
      </p:sp>
    </p:spTree>
    <p:extLst>
      <p:ext uri="{BB962C8B-B14F-4D97-AF65-F5344CB8AC3E}">
        <p14:creationId xmlns:p14="http://schemas.microsoft.com/office/powerpoint/2010/main" val="3024455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FBE41-272D-3E4B-BC20-85F84802C683}"/>
              </a:ext>
            </a:extLst>
          </p:cNvPr>
          <p:cNvSpPr>
            <a:spLocks noGrp="1"/>
          </p:cNvSpPr>
          <p:nvPr>
            <p:ph type="title"/>
          </p:nvPr>
        </p:nvSpPr>
        <p:spPr/>
        <p:txBody>
          <a:bodyPr/>
          <a:lstStyle/>
          <a:p>
            <a:r>
              <a:rPr lang="en-US" dirty="0"/>
              <a:t>Outline</a:t>
            </a:r>
          </a:p>
        </p:txBody>
      </p:sp>
      <p:sp>
        <p:nvSpPr>
          <p:cNvPr id="3" name="Text Placeholder 2">
            <a:extLst>
              <a:ext uri="{FF2B5EF4-FFF2-40B4-BE49-F238E27FC236}">
                <a16:creationId xmlns:a16="http://schemas.microsoft.com/office/drawing/2014/main" id="{01F3D3C9-5D95-624A-82B8-CA8FA22E4C34}"/>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Quick review/overview of Scrum</a:t>
            </a:r>
          </a:p>
          <a:p>
            <a:pPr marL="571500" indent="-571500">
              <a:buFont typeface="Arial" panose="020B0604020202020204" pitchFamily="34" charset="0"/>
              <a:buChar char="•"/>
            </a:pPr>
            <a:r>
              <a:rPr lang="en-US" dirty="0"/>
              <a:t>The role of the Product Owner in relation to the events and artifacts of Scrum.</a:t>
            </a:r>
          </a:p>
          <a:p>
            <a:pPr marL="571500" indent="-571500">
              <a:buFont typeface="Arial" panose="020B0604020202020204" pitchFamily="34" charset="0"/>
              <a:buChar char="•"/>
            </a:pPr>
            <a:r>
              <a:rPr lang="en-US" dirty="0"/>
              <a:t>Discussion of situations a Product Owner may find herself in and appropriate responses to those situations.</a:t>
            </a:r>
          </a:p>
        </p:txBody>
      </p:sp>
    </p:spTree>
    <p:extLst>
      <p:ext uri="{BB962C8B-B14F-4D97-AF65-F5344CB8AC3E}">
        <p14:creationId xmlns:p14="http://schemas.microsoft.com/office/powerpoint/2010/main" val="2803160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84E6B7-3F49-2642-A329-ACA4D224361F}"/>
              </a:ext>
            </a:extLst>
          </p:cNvPr>
          <p:cNvSpPr>
            <a:spLocks noGrp="1"/>
          </p:cNvSpPr>
          <p:nvPr>
            <p:ph type="body" sz="quarter" idx="14"/>
          </p:nvPr>
        </p:nvSpPr>
        <p:spPr/>
        <p:txBody>
          <a:bodyPr/>
          <a:lstStyle/>
          <a:p>
            <a:r>
              <a:rPr lang="en-US" dirty="0"/>
              <a:t>Scrum Quick Review</a:t>
            </a:r>
          </a:p>
        </p:txBody>
      </p:sp>
    </p:spTree>
    <p:extLst>
      <p:ext uri="{BB962C8B-B14F-4D97-AF65-F5344CB8AC3E}">
        <p14:creationId xmlns:p14="http://schemas.microsoft.com/office/powerpoint/2010/main" val="1174387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4E3A1-A3D9-C54B-BA6E-03B4EE5F955D}"/>
              </a:ext>
            </a:extLst>
          </p:cNvPr>
          <p:cNvSpPr>
            <a:spLocks noGrp="1"/>
          </p:cNvSpPr>
          <p:nvPr>
            <p:ph type="title"/>
          </p:nvPr>
        </p:nvSpPr>
        <p:spPr/>
        <p:txBody>
          <a:bodyPr/>
          <a:lstStyle/>
          <a:p>
            <a:r>
              <a:rPr lang="en-US" dirty="0"/>
              <a:t>Scrum</a:t>
            </a:r>
          </a:p>
        </p:txBody>
      </p:sp>
      <p:sp>
        <p:nvSpPr>
          <p:cNvPr id="3" name="Text Placeholder 2">
            <a:extLst>
              <a:ext uri="{FF2B5EF4-FFF2-40B4-BE49-F238E27FC236}">
                <a16:creationId xmlns:a16="http://schemas.microsoft.com/office/drawing/2014/main" id="{7BEE0EF3-301F-7C4A-B9C9-8E4DF2A5846A}"/>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Scrum is a </a:t>
            </a:r>
            <a:r>
              <a:rPr lang="en-US" i="1" dirty="0"/>
              <a:t>framework</a:t>
            </a:r>
            <a:r>
              <a:rPr lang="en-US" dirty="0"/>
              <a:t> for developing products using an empirical process</a:t>
            </a:r>
          </a:p>
          <a:p>
            <a:pPr marL="571500" indent="-571500">
              <a:buFont typeface="Arial" panose="020B0604020202020204" pitchFamily="34" charset="0"/>
              <a:buChar char="•"/>
            </a:pPr>
            <a:r>
              <a:rPr lang="en-US" dirty="0"/>
              <a:t>Scrum specifies</a:t>
            </a:r>
          </a:p>
          <a:p>
            <a:pPr marL="876292" lvl="1" indent="-571500">
              <a:buFont typeface="Arial" panose="020B0604020202020204" pitchFamily="34" charset="0"/>
              <a:buChar char="•"/>
            </a:pPr>
            <a:r>
              <a:rPr lang="en-US" dirty="0"/>
              <a:t>Pillars and Values</a:t>
            </a:r>
          </a:p>
          <a:p>
            <a:pPr marL="876292" lvl="1" indent="-571500">
              <a:buFont typeface="Arial" panose="020B0604020202020204" pitchFamily="34" charset="0"/>
              <a:buChar char="•"/>
            </a:pPr>
            <a:r>
              <a:rPr lang="en-US" dirty="0"/>
              <a:t>Roles</a:t>
            </a:r>
          </a:p>
          <a:p>
            <a:pPr marL="876292" lvl="1" indent="-571500">
              <a:buFont typeface="Arial" panose="020B0604020202020204" pitchFamily="34" charset="0"/>
              <a:buChar char="•"/>
            </a:pPr>
            <a:r>
              <a:rPr lang="en-US" dirty="0"/>
              <a:t>Events</a:t>
            </a:r>
          </a:p>
          <a:p>
            <a:pPr marL="876292" lvl="1" indent="-571500">
              <a:buFont typeface="Arial" panose="020B0604020202020204" pitchFamily="34" charset="0"/>
              <a:buChar char="•"/>
            </a:pPr>
            <a:r>
              <a:rPr lang="en-US" dirty="0"/>
              <a:t>Artifacts</a:t>
            </a:r>
          </a:p>
        </p:txBody>
      </p:sp>
    </p:spTree>
    <p:extLst>
      <p:ext uri="{BB962C8B-B14F-4D97-AF65-F5344CB8AC3E}">
        <p14:creationId xmlns:p14="http://schemas.microsoft.com/office/powerpoint/2010/main" val="3025915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321CD-6804-E146-9B3B-127867A29538}"/>
              </a:ext>
            </a:extLst>
          </p:cNvPr>
          <p:cNvSpPr>
            <a:spLocks noGrp="1"/>
          </p:cNvSpPr>
          <p:nvPr>
            <p:ph type="title"/>
          </p:nvPr>
        </p:nvSpPr>
        <p:spPr/>
        <p:txBody>
          <a:bodyPr/>
          <a:lstStyle/>
          <a:p>
            <a:r>
              <a:rPr lang="en-US" dirty="0"/>
              <a:t>Scrum Pillars and Values</a:t>
            </a:r>
          </a:p>
        </p:txBody>
      </p:sp>
      <p:sp>
        <p:nvSpPr>
          <p:cNvPr id="3" name="Text Placeholder 2">
            <a:extLst>
              <a:ext uri="{FF2B5EF4-FFF2-40B4-BE49-F238E27FC236}">
                <a16:creationId xmlns:a16="http://schemas.microsoft.com/office/drawing/2014/main" id="{6C7DFA57-52A6-E04B-9F31-A255AE820959}"/>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Pillars of empirical process control</a:t>
            </a:r>
          </a:p>
          <a:p>
            <a:pPr marL="876292" lvl="1" indent="-571500">
              <a:buFont typeface="Arial" panose="020B0604020202020204" pitchFamily="34" charset="0"/>
              <a:buChar char="•"/>
            </a:pPr>
            <a:r>
              <a:rPr lang="en-US" dirty="0"/>
              <a:t>Transparency</a:t>
            </a:r>
          </a:p>
          <a:p>
            <a:pPr marL="876292" lvl="1" indent="-571500">
              <a:buFont typeface="Arial" panose="020B0604020202020204" pitchFamily="34" charset="0"/>
              <a:buChar char="•"/>
            </a:pPr>
            <a:r>
              <a:rPr lang="en-US" dirty="0"/>
              <a:t>Inspection</a:t>
            </a:r>
          </a:p>
          <a:p>
            <a:pPr marL="876292" lvl="1" indent="-571500">
              <a:buFont typeface="Arial" panose="020B0604020202020204" pitchFamily="34" charset="0"/>
              <a:buChar char="•"/>
            </a:pPr>
            <a:r>
              <a:rPr lang="en-US" dirty="0"/>
              <a:t>Adaptation</a:t>
            </a:r>
          </a:p>
        </p:txBody>
      </p:sp>
    </p:spTree>
    <p:extLst>
      <p:ext uri="{BB962C8B-B14F-4D97-AF65-F5344CB8AC3E}">
        <p14:creationId xmlns:p14="http://schemas.microsoft.com/office/powerpoint/2010/main" val="1325005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88CA8-0C2A-A048-B95E-8143D601FBE0}"/>
              </a:ext>
            </a:extLst>
          </p:cNvPr>
          <p:cNvSpPr>
            <a:spLocks noGrp="1"/>
          </p:cNvSpPr>
          <p:nvPr>
            <p:ph type="title"/>
          </p:nvPr>
        </p:nvSpPr>
        <p:spPr/>
        <p:txBody>
          <a:bodyPr/>
          <a:lstStyle/>
          <a:p>
            <a:r>
              <a:rPr lang="en-US" dirty="0"/>
              <a:t>Scrum Values</a:t>
            </a:r>
          </a:p>
        </p:txBody>
      </p:sp>
      <p:sp>
        <p:nvSpPr>
          <p:cNvPr id="3" name="Text Placeholder 2">
            <a:extLst>
              <a:ext uri="{FF2B5EF4-FFF2-40B4-BE49-F238E27FC236}">
                <a16:creationId xmlns:a16="http://schemas.microsoft.com/office/drawing/2014/main" id="{427AD834-20E6-E34C-A971-1C52335F95B3}"/>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Added in 2017 to emphasize the behaviors and attitudes needed for the pillars to be most effective</a:t>
            </a:r>
          </a:p>
          <a:p>
            <a:pPr marL="876292" lvl="1" indent="-571500">
              <a:buFont typeface="Arial" panose="020B0604020202020204" pitchFamily="34" charset="0"/>
              <a:buChar char="•"/>
            </a:pPr>
            <a:r>
              <a:rPr lang="en-US" dirty="0"/>
              <a:t>Commitment</a:t>
            </a:r>
          </a:p>
          <a:p>
            <a:pPr marL="876292" lvl="1" indent="-571500">
              <a:buFont typeface="Arial" panose="020B0604020202020204" pitchFamily="34" charset="0"/>
              <a:buChar char="•"/>
            </a:pPr>
            <a:r>
              <a:rPr lang="en-US" dirty="0"/>
              <a:t>Courage</a:t>
            </a:r>
          </a:p>
          <a:p>
            <a:pPr marL="876292" lvl="1" indent="-571500">
              <a:buFont typeface="Arial" panose="020B0604020202020204" pitchFamily="34" charset="0"/>
              <a:buChar char="•"/>
            </a:pPr>
            <a:r>
              <a:rPr lang="en-US" dirty="0"/>
              <a:t>Focus</a:t>
            </a:r>
          </a:p>
          <a:p>
            <a:pPr marL="876292" lvl="1" indent="-571500">
              <a:buFont typeface="Arial" panose="020B0604020202020204" pitchFamily="34" charset="0"/>
              <a:buChar char="•"/>
            </a:pPr>
            <a:r>
              <a:rPr lang="en-US" dirty="0"/>
              <a:t>Openness</a:t>
            </a:r>
          </a:p>
          <a:p>
            <a:pPr marL="876292" lvl="1" indent="-571500">
              <a:buFont typeface="Arial" panose="020B0604020202020204" pitchFamily="34" charset="0"/>
              <a:buChar char="•"/>
            </a:pPr>
            <a:r>
              <a:rPr lang="en-US" dirty="0"/>
              <a:t>Respect</a:t>
            </a:r>
          </a:p>
        </p:txBody>
      </p:sp>
    </p:spTree>
    <p:extLst>
      <p:ext uri="{BB962C8B-B14F-4D97-AF65-F5344CB8AC3E}">
        <p14:creationId xmlns:p14="http://schemas.microsoft.com/office/powerpoint/2010/main" val="3428840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F4AFD-9B29-2B4C-9EC4-C1BD6B857509}"/>
              </a:ext>
            </a:extLst>
          </p:cNvPr>
          <p:cNvSpPr>
            <a:spLocks noGrp="1"/>
          </p:cNvSpPr>
          <p:nvPr>
            <p:ph type="title"/>
          </p:nvPr>
        </p:nvSpPr>
        <p:spPr/>
        <p:txBody>
          <a:bodyPr/>
          <a:lstStyle/>
          <a:p>
            <a:r>
              <a:rPr lang="en-US" dirty="0"/>
              <a:t>Scrum Roles</a:t>
            </a:r>
          </a:p>
        </p:txBody>
      </p:sp>
      <p:sp>
        <p:nvSpPr>
          <p:cNvPr id="3" name="Text Placeholder 2">
            <a:extLst>
              <a:ext uri="{FF2B5EF4-FFF2-40B4-BE49-F238E27FC236}">
                <a16:creationId xmlns:a16="http://schemas.microsoft.com/office/drawing/2014/main" id="{89F0A835-DB53-3B44-A9DE-D2E72F05BEC1}"/>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Scrum specifies 3 co-equal roles in a Scrum team</a:t>
            </a:r>
          </a:p>
          <a:p>
            <a:pPr marL="876292" lvl="1" indent="-571500">
              <a:buFont typeface="Arial" panose="020B0604020202020204" pitchFamily="34" charset="0"/>
              <a:buChar char="•"/>
            </a:pPr>
            <a:r>
              <a:rPr lang="en-US" dirty="0"/>
              <a:t>The Scrum Master</a:t>
            </a:r>
          </a:p>
          <a:p>
            <a:pPr marL="954608" lvl="2" indent="-571500">
              <a:buFont typeface="Arial" panose="020B0604020202020204" pitchFamily="34" charset="0"/>
              <a:buChar char="•"/>
            </a:pPr>
            <a:r>
              <a:rPr lang="en-US" dirty="0"/>
              <a:t>Serves as expert and guide on the framework</a:t>
            </a:r>
          </a:p>
          <a:p>
            <a:pPr marL="876292" lvl="1" indent="-571500">
              <a:buFont typeface="Arial" panose="020B0604020202020204" pitchFamily="34" charset="0"/>
              <a:buChar char="•"/>
            </a:pPr>
            <a:r>
              <a:rPr lang="en-US" dirty="0"/>
              <a:t>The Product Owner</a:t>
            </a:r>
          </a:p>
          <a:p>
            <a:pPr marL="876292" lvl="1" indent="-571500">
              <a:buFont typeface="Arial" panose="020B0604020202020204" pitchFamily="34" charset="0"/>
              <a:buChar char="•"/>
            </a:pPr>
            <a:r>
              <a:rPr lang="en-US" dirty="0"/>
              <a:t>The Development Team</a:t>
            </a:r>
          </a:p>
          <a:p>
            <a:pPr marL="954608" lvl="2" indent="-571500">
              <a:buFont typeface="Arial" panose="020B0604020202020204" pitchFamily="34" charset="0"/>
              <a:buChar char="•"/>
            </a:pPr>
            <a:r>
              <a:rPr lang="en-US" dirty="0"/>
              <a:t>Develops the product</a:t>
            </a:r>
          </a:p>
          <a:p>
            <a:pPr marL="1096420" lvl="3" indent="-571500">
              <a:buFont typeface="Arial" panose="020B0604020202020204" pitchFamily="34" charset="0"/>
              <a:buChar char="•"/>
            </a:pPr>
            <a:r>
              <a:rPr lang="en-US" dirty="0"/>
              <a:t>Self-organizing, self-directing, collectively responsible</a:t>
            </a:r>
          </a:p>
        </p:txBody>
      </p:sp>
    </p:spTree>
    <p:extLst>
      <p:ext uri="{BB962C8B-B14F-4D97-AF65-F5344CB8AC3E}">
        <p14:creationId xmlns:p14="http://schemas.microsoft.com/office/powerpoint/2010/main" val="3941493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17D8-4329-B14D-9715-F2B30905D6AB}"/>
              </a:ext>
            </a:extLst>
          </p:cNvPr>
          <p:cNvSpPr>
            <a:spLocks noGrp="1"/>
          </p:cNvSpPr>
          <p:nvPr>
            <p:ph type="title"/>
          </p:nvPr>
        </p:nvSpPr>
        <p:spPr/>
        <p:txBody>
          <a:bodyPr/>
          <a:lstStyle/>
          <a:p>
            <a:r>
              <a:rPr lang="en-US" dirty="0"/>
              <a:t>Scrum Events</a:t>
            </a:r>
          </a:p>
        </p:txBody>
      </p:sp>
      <p:sp>
        <p:nvSpPr>
          <p:cNvPr id="3" name="Text Placeholder 2">
            <a:extLst>
              <a:ext uri="{FF2B5EF4-FFF2-40B4-BE49-F238E27FC236}">
                <a16:creationId xmlns:a16="http://schemas.microsoft.com/office/drawing/2014/main" id="{97D667D7-6B72-054C-8515-146157D27C1A}"/>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The Sprint</a:t>
            </a:r>
          </a:p>
          <a:p>
            <a:pPr marL="876292" lvl="1" indent="-571500">
              <a:buFont typeface="Arial" panose="020B0604020202020204" pitchFamily="34" charset="0"/>
              <a:buChar char="•"/>
            </a:pPr>
            <a:r>
              <a:rPr lang="en-US" dirty="0"/>
              <a:t>Sprint Planning</a:t>
            </a:r>
          </a:p>
          <a:p>
            <a:pPr marL="876292" lvl="1" indent="-571500">
              <a:buFont typeface="Arial" panose="020B0604020202020204" pitchFamily="34" charset="0"/>
              <a:buChar char="•"/>
            </a:pPr>
            <a:r>
              <a:rPr lang="en-US" dirty="0"/>
              <a:t>Development period</a:t>
            </a:r>
          </a:p>
          <a:p>
            <a:pPr marL="954608" lvl="2" indent="-571500">
              <a:buFont typeface="Arial" panose="020B0604020202020204" pitchFamily="34" charset="0"/>
              <a:buChar char="•"/>
            </a:pPr>
            <a:r>
              <a:rPr lang="en-US" dirty="0"/>
              <a:t>Daily Scrum</a:t>
            </a:r>
          </a:p>
          <a:p>
            <a:pPr marL="876292" lvl="1" indent="-571500">
              <a:buFont typeface="Arial" panose="020B0604020202020204" pitchFamily="34" charset="0"/>
              <a:buChar char="•"/>
            </a:pPr>
            <a:r>
              <a:rPr lang="en-US" dirty="0"/>
              <a:t>Sprint Review</a:t>
            </a:r>
          </a:p>
          <a:p>
            <a:pPr marL="876292" lvl="1" indent="-571500">
              <a:buFont typeface="Arial" panose="020B0604020202020204" pitchFamily="34" charset="0"/>
              <a:buChar char="•"/>
            </a:pPr>
            <a:r>
              <a:rPr lang="en-US" dirty="0"/>
              <a:t>Spring Retrospective</a:t>
            </a:r>
          </a:p>
          <a:p>
            <a:pPr marL="571500" indent="-571500">
              <a:buFont typeface="Arial" panose="020B0604020202020204" pitchFamily="34" charset="0"/>
              <a:buChar char="•"/>
            </a:pPr>
            <a:r>
              <a:rPr lang="en-US" dirty="0"/>
              <a:t>Each Sprint</a:t>
            </a:r>
          </a:p>
        </p:txBody>
      </p:sp>
    </p:spTree>
    <p:extLst>
      <p:ext uri="{BB962C8B-B14F-4D97-AF65-F5344CB8AC3E}">
        <p14:creationId xmlns:p14="http://schemas.microsoft.com/office/powerpoint/2010/main" val="1738203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9954-A8EE-DA49-9FCE-08402082AF63}"/>
              </a:ext>
            </a:extLst>
          </p:cNvPr>
          <p:cNvSpPr>
            <a:spLocks noGrp="1"/>
          </p:cNvSpPr>
          <p:nvPr>
            <p:ph type="title"/>
          </p:nvPr>
        </p:nvSpPr>
        <p:spPr/>
        <p:txBody>
          <a:bodyPr/>
          <a:lstStyle/>
          <a:p>
            <a:r>
              <a:rPr lang="en-US" dirty="0"/>
              <a:t>Scrum Artifacts</a:t>
            </a:r>
          </a:p>
        </p:txBody>
      </p:sp>
      <p:sp>
        <p:nvSpPr>
          <p:cNvPr id="3" name="Text Placeholder 2">
            <a:extLst>
              <a:ext uri="{FF2B5EF4-FFF2-40B4-BE49-F238E27FC236}">
                <a16:creationId xmlns:a16="http://schemas.microsoft.com/office/drawing/2014/main" id="{15DCCB10-B8EB-F140-8208-75459C6BF558}"/>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Product Backlog</a:t>
            </a:r>
          </a:p>
          <a:p>
            <a:pPr marL="876292" lvl="1" indent="-571500">
              <a:buFont typeface="Arial" panose="020B0604020202020204" pitchFamily="34" charset="0"/>
              <a:buChar char="•"/>
            </a:pPr>
            <a:r>
              <a:rPr lang="en-US" sz="2800" dirty="0"/>
              <a:t>Work Items</a:t>
            </a:r>
          </a:p>
          <a:p>
            <a:pPr marL="876292" lvl="1" indent="-571500">
              <a:buFont typeface="Arial" panose="020B0604020202020204" pitchFamily="34" charset="0"/>
              <a:buChar char="•"/>
            </a:pPr>
            <a:r>
              <a:rPr lang="en-US" sz="2800" dirty="0"/>
              <a:t>Estimates</a:t>
            </a:r>
          </a:p>
          <a:p>
            <a:pPr marL="571500" indent="-571500">
              <a:buFont typeface="Arial" panose="020B0604020202020204" pitchFamily="34" charset="0"/>
              <a:buChar char="•"/>
            </a:pPr>
            <a:r>
              <a:rPr lang="en-US" dirty="0"/>
              <a:t>Sprint Backlog</a:t>
            </a:r>
          </a:p>
          <a:p>
            <a:pPr marL="876292" lvl="1" indent="-571500">
              <a:buFont typeface="Arial" panose="020B0604020202020204" pitchFamily="34" charset="0"/>
              <a:buChar char="•"/>
            </a:pPr>
            <a:r>
              <a:rPr lang="en-US" sz="2800" dirty="0"/>
              <a:t>Sprint Plan</a:t>
            </a:r>
          </a:p>
          <a:p>
            <a:pPr marL="876292" lvl="1" indent="-571500">
              <a:buFont typeface="Arial" panose="020B0604020202020204" pitchFamily="34" charset="0"/>
              <a:buChar char="•"/>
            </a:pPr>
            <a:r>
              <a:rPr lang="en-US" sz="2800" dirty="0"/>
              <a:t>Work Items</a:t>
            </a:r>
          </a:p>
          <a:p>
            <a:pPr marL="876292" lvl="1" indent="-571500">
              <a:buFont typeface="Arial" panose="020B0604020202020204" pitchFamily="34" charset="0"/>
              <a:buChar char="•"/>
            </a:pPr>
            <a:r>
              <a:rPr lang="en-US" sz="2800" dirty="0"/>
              <a:t>Work Estimates</a:t>
            </a:r>
          </a:p>
          <a:p>
            <a:pPr marL="571500" indent="-571500">
              <a:buFont typeface="Arial" panose="020B0604020202020204" pitchFamily="34" charset="0"/>
              <a:buChar char="•"/>
            </a:pPr>
            <a:r>
              <a:rPr lang="en-US" dirty="0"/>
              <a:t>Sprint Goal</a:t>
            </a:r>
          </a:p>
          <a:p>
            <a:pPr marL="876292" lvl="1" indent="-571500">
              <a:buFont typeface="Arial" panose="020B0604020202020204" pitchFamily="34" charset="0"/>
              <a:buChar char="•"/>
            </a:pPr>
            <a:r>
              <a:rPr lang="en-US" sz="2800" dirty="0"/>
              <a:t>Simple statement of the outcome of the Sprint</a:t>
            </a:r>
          </a:p>
          <a:p>
            <a:endParaRPr lang="en-US" sz="3333" dirty="0"/>
          </a:p>
        </p:txBody>
      </p:sp>
    </p:spTree>
    <p:extLst>
      <p:ext uri="{BB962C8B-B14F-4D97-AF65-F5344CB8AC3E}">
        <p14:creationId xmlns:p14="http://schemas.microsoft.com/office/powerpoint/2010/main" val="2989647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DB011-C73C-9945-A582-ED5140957454}"/>
              </a:ext>
            </a:extLst>
          </p:cNvPr>
          <p:cNvSpPr>
            <a:spLocks noGrp="1"/>
          </p:cNvSpPr>
          <p:nvPr>
            <p:ph type="title"/>
          </p:nvPr>
        </p:nvSpPr>
        <p:spPr/>
        <p:txBody>
          <a:bodyPr/>
          <a:lstStyle/>
          <a:p>
            <a:r>
              <a:rPr lang="en-US" dirty="0"/>
              <a:t>Scrum Artifacts</a:t>
            </a:r>
          </a:p>
        </p:txBody>
      </p:sp>
      <p:sp>
        <p:nvSpPr>
          <p:cNvPr id="3" name="Text Placeholder 2">
            <a:extLst>
              <a:ext uri="{FF2B5EF4-FFF2-40B4-BE49-F238E27FC236}">
                <a16:creationId xmlns:a16="http://schemas.microsoft.com/office/drawing/2014/main" id="{EBD730D1-665C-C34F-A615-3FB76E6B09AD}"/>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Definition of Done</a:t>
            </a:r>
          </a:p>
          <a:p>
            <a:pPr marL="876292" lvl="1" indent="-571500">
              <a:buFont typeface="Arial" panose="020B0604020202020204" pitchFamily="34" charset="0"/>
              <a:buChar char="•"/>
            </a:pPr>
            <a:r>
              <a:rPr lang="en-US" sz="2800" dirty="0"/>
              <a:t>Criteria under which everything from a work item to the entire increment are to be considered finished</a:t>
            </a:r>
          </a:p>
          <a:p>
            <a:pPr marL="571500" indent="-571500">
              <a:buFont typeface="Arial" panose="020B0604020202020204" pitchFamily="34" charset="0"/>
              <a:buChar char="•"/>
            </a:pPr>
            <a:r>
              <a:rPr lang="en-US" dirty="0"/>
              <a:t>Definition of Ready (optional – not part of guide)</a:t>
            </a:r>
          </a:p>
          <a:p>
            <a:pPr marL="876292" lvl="1" indent="-571500">
              <a:buFont typeface="Arial" panose="020B0604020202020204" pitchFamily="34" charset="0"/>
              <a:buChar char="•"/>
            </a:pPr>
            <a:r>
              <a:rPr lang="en-US" sz="2800" dirty="0"/>
              <a:t>Criteria under which Product Backlog items are ready to be included in a Sprint</a:t>
            </a:r>
          </a:p>
          <a:p>
            <a:pPr marL="571500" indent="-571500">
              <a:buFont typeface="Arial" panose="020B0604020202020204" pitchFamily="34" charset="0"/>
              <a:buChar char="•"/>
            </a:pPr>
            <a:r>
              <a:rPr lang="en-US" dirty="0"/>
              <a:t>Increment</a:t>
            </a:r>
          </a:p>
          <a:p>
            <a:pPr marL="876292" lvl="1" indent="-571500">
              <a:buFont typeface="Arial" panose="020B0604020202020204" pitchFamily="34" charset="0"/>
              <a:buChar char="•"/>
            </a:pPr>
            <a:r>
              <a:rPr lang="en-US" dirty="0"/>
              <a:t>Product as it stands at the end of a Sprint</a:t>
            </a:r>
          </a:p>
          <a:p>
            <a:pPr marL="876292" lvl="1" indent="-571500">
              <a:buFont typeface="Arial" panose="020B0604020202020204" pitchFamily="34" charset="0"/>
              <a:buChar char="•"/>
            </a:pPr>
            <a:r>
              <a:rPr lang="en-US" dirty="0"/>
              <a:t>Production-ready, potentially releasable</a:t>
            </a:r>
          </a:p>
        </p:txBody>
      </p:sp>
    </p:spTree>
    <p:extLst>
      <p:ext uri="{BB962C8B-B14F-4D97-AF65-F5344CB8AC3E}">
        <p14:creationId xmlns:p14="http://schemas.microsoft.com/office/powerpoint/2010/main" val="3917468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79ABC7-560D-9342-B535-AAF9C120635C}"/>
              </a:ext>
            </a:extLst>
          </p:cNvPr>
          <p:cNvSpPr>
            <a:spLocks noGrp="1"/>
          </p:cNvSpPr>
          <p:nvPr>
            <p:ph type="body" sz="quarter" idx="14"/>
          </p:nvPr>
        </p:nvSpPr>
        <p:spPr/>
        <p:txBody>
          <a:bodyPr/>
          <a:lstStyle/>
          <a:p>
            <a:r>
              <a:rPr lang="en-US" dirty="0"/>
              <a:t>The Product Owner</a:t>
            </a:r>
          </a:p>
        </p:txBody>
      </p:sp>
    </p:spTree>
    <p:extLst>
      <p:ext uri="{BB962C8B-B14F-4D97-AF65-F5344CB8AC3E}">
        <p14:creationId xmlns:p14="http://schemas.microsoft.com/office/powerpoint/2010/main" val="270500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3B8A4-8F19-7343-981B-F43C228FE729}"/>
              </a:ext>
            </a:extLst>
          </p:cNvPr>
          <p:cNvSpPr>
            <a:spLocks noGrp="1"/>
          </p:cNvSpPr>
          <p:nvPr>
            <p:ph type="title"/>
          </p:nvPr>
        </p:nvSpPr>
        <p:spPr/>
        <p:txBody>
          <a:bodyPr/>
          <a:lstStyle/>
          <a:p>
            <a:r>
              <a:rPr lang="en-US" dirty="0"/>
              <a:t>Product Owner</a:t>
            </a:r>
          </a:p>
        </p:txBody>
      </p:sp>
      <p:sp>
        <p:nvSpPr>
          <p:cNvPr id="3" name="Text Placeholder 2">
            <a:extLst>
              <a:ext uri="{FF2B5EF4-FFF2-40B4-BE49-F238E27FC236}">
                <a16:creationId xmlns:a16="http://schemas.microsoft.com/office/drawing/2014/main" id="{0DB393F1-1EC9-0248-BD60-8F410B3622A1}"/>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The Product Owner is a single person</a:t>
            </a:r>
          </a:p>
          <a:p>
            <a:pPr marL="876292" lvl="1" indent="-571500">
              <a:buFont typeface="Arial" panose="020B0604020202020204" pitchFamily="34" charset="0"/>
              <a:buChar char="•"/>
            </a:pPr>
            <a:r>
              <a:rPr lang="en-US" dirty="0"/>
              <a:t>Not a committee</a:t>
            </a:r>
          </a:p>
          <a:p>
            <a:pPr marL="876292" lvl="1" indent="-571500">
              <a:buFont typeface="Arial" panose="020B0604020202020204" pitchFamily="34" charset="0"/>
              <a:buChar char="•"/>
            </a:pPr>
            <a:r>
              <a:rPr lang="en-US" dirty="0"/>
              <a:t>Not a primary/secondary list of people</a:t>
            </a:r>
          </a:p>
          <a:p>
            <a:pPr marL="571500" indent="-571500">
              <a:buFont typeface="Arial" panose="020B0604020202020204" pitchFamily="34" charset="0"/>
              <a:buChar char="•"/>
            </a:pPr>
            <a:r>
              <a:rPr lang="en-US" dirty="0"/>
              <a:t>The Product Owner is part of the team</a:t>
            </a:r>
          </a:p>
          <a:p>
            <a:pPr marL="876292" lvl="1" indent="-571500">
              <a:buFont typeface="Arial" panose="020B0604020202020204" pitchFamily="34" charset="0"/>
              <a:buChar char="•"/>
            </a:pPr>
            <a:r>
              <a:rPr lang="en-US" dirty="0"/>
              <a:t>They won't generally sit with the team, but must be available to contribute on short notice</a:t>
            </a:r>
          </a:p>
          <a:p>
            <a:pPr marL="571500" indent="-571500">
              <a:buFont typeface="Arial" panose="020B0604020202020204" pitchFamily="34" charset="0"/>
              <a:buChar char="•"/>
            </a:pPr>
            <a:r>
              <a:rPr lang="en-US" dirty="0"/>
              <a:t>The Product Owner is required</a:t>
            </a:r>
          </a:p>
        </p:txBody>
      </p:sp>
    </p:spTree>
    <p:extLst>
      <p:ext uri="{BB962C8B-B14F-4D97-AF65-F5344CB8AC3E}">
        <p14:creationId xmlns:p14="http://schemas.microsoft.com/office/powerpoint/2010/main" val="2234569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02F52-DF1F-424E-BB1E-DACADDDE1A56}"/>
              </a:ext>
            </a:extLst>
          </p:cNvPr>
          <p:cNvSpPr>
            <a:spLocks noGrp="1"/>
          </p:cNvSpPr>
          <p:nvPr>
            <p:ph type="title"/>
          </p:nvPr>
        </p:nvSpPr>
        <p:spPr/>
        <p:txBody>
          <a:bodyPr/>
          <a:lstStyle/>
          <a:p>
            <a:r>
              <a:rPr lang="en-US" dirty="0"/>
              <a:t>Product Owner Qualifications</a:t>
            </a:r>
          </a:p>
        </p:txBody>
      </p:sp>
      <p:sp>
        <p:nvSpPr>
          <p:cNvPr id="3" name="Text Placeholder 2">
            <a:extLst>
              <a:ext uri="{FF2B5EF4-FFF2-40B4-BE49-F238E27FC236}">
                <a16:creationId xmlns:a16="http://schemas.microsoft.com/office/drawing/2014/main" id="{A30E4610-BCED-8541-898B-FD39C648D33A}"/>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Understanding of her role OR trust in the guidance of a qualified Scrum Master</a:t>
            </a:r>
          </a:p>
          <a:p>
            <a:pPr marL="571500" indent="-571500">
              <a:buFont typeface="Arial" panose="020B0604020202020204" pitchFamily="34" charset="0"/>
              <a:buChar char="•"/>
            </a:pPr>
            <a:r>
              <a:rPr lang="en-US" dirty="0"/>
              <a:t>Understanding of the product under development</a:t>
            </a:r>
          </a:p>
          <a:p>
            <a:pPr marL="571500" indent="-571500">
              <a:buFont typeface="Arial" panose="020B0604020202020204" pitchFamily="34" charset="0"/>
              <a:buChar char="•"/>
            </a:pPr>
            <a:r>
              <a:rPr lang="en-US" dirty="0"/>
              <a:t>Understanding of the business</a:t>
            </a:r>
          </a:p>
          <a:p>
            <a:pPr marL="876292" lvl="1" indent="-571500">
              <a:buFont typeface="Arial" panose="020B0604020202020204" pitchFamily="34" charset="0"/>
              <a:buChar char="•"/>
            </a:pPr>
            <a:r>
              <a:rPr lang="en-US" dirty="0"/>
              <a:t>Key stakeholders</a:t>
            </a:r>
          </a:p>
          <a:p>
            <a:pPr marL="876292" lvl="1" indent="-571500">
              <a:buFont typeface="Arial" panose="020B0604020202020204" pitchFamily="34" charset="0"/>
              <a:buChar char="•"/>
            </a:pPr>
            <a:r>
              <a:rPr lang="en-US" dirty="0"/>
              <a:t>Key drivers of value</a:t>
            </a:r>
          </a:p>
        </p:txBody>
      </p:sp>
    </p:spTree>
    <p:extLst>
      <p:ext uri="{BB962C8B-B14F-4D97-AF65-F5344CB8AC3E}">
        <p14:creationId xmlns:p14="http://schemas.microsoft.com/office/powerpoint/2010/main" val="1288324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6C9D8-5920-7545-9F15-897C3998682D}"/>
              </a:ext>
            </a:extLst>
          </p:cNvPr>
          <p:cNvSpPr>
            <a:spLocks noGrp="1"/>
          </p:cNvSpPr>
          <p:nvPr>
            <p:ph type="title"/>
          </p:nvPr>
        </p:nvSpPr>
        <p:spPr/>
        <p:txBody>
          <a:bodyPr/>
          <a:lstStyle/>
          <a:p>
            <a:r>
              <a:rPr lang="en-US" dirty="0"/>
              <a:t>Product Owner Role</a:t>
            </a:r>
          </a:p>
        </p:txBody>
      </p:sp>
      <p:sp>
        <p:nvSpPr>
          <p:cNvPr id="3" name="Text Placeholder 2">
            <a:extLst>
              <a:ext uri="{FF2B5EF4-FFF2-40B4-BE49-F238E27FC236}">
                <a16:creationId xmlns:a16="http://schemas.microsoft.com/office/drawing/2014/main" id="{1E548097-5B60-2A4E-9EDE-E3895DD0AC0A}"/>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The Product Owner is responsible for ensuring that the Development Team is always producing the most value they can.</a:t>
            </a:r>
          </a:p>
          <a:p>
            <a:pPr marL="876292" lvl="1" indent="-571500">
              <a:buFont typeface="Arial" panose="020B0604020202020204" pitchFamily="34" charset="0"/>
              <a:buChar char="•"/>
            </a:pPr>
            <a:r>
              <a:rPr lang="en-US" dirty="0"/>
              <a:t>Interfaces with the rest of the stakeholders to track changing needs</a:t>
            </a:r>
          </a:p>
          <a:p>
            <a:pPr marL="876292" lvl="1" indent="-571500">
              <a:buFont typeface="Arial" panose="020B0604020202020204" pitchFamily="34" charset="0"/>
              <a:buChar char="•"/>
            </a:pPr>
            <a:r>
              <a:rPr lang="en-US" dirty="0"/>
              <a:t>Manages the Product Backlog</a:t>
            </a:r>
          </a:p>
          <a:p>
            <a:pPr marL="876292" lvl="1" indent="-571500">
              <a:buFont typeface="Arial" panose="020B0604020202020204" pitchFamily="34" charset="0"/>
              <a:buChar char="•"/>
            </a:pPr>
            <a:r>
              <a:rPr lang="en-US" dirty="0"/>
              <a:t>Is the final authority on the project requirements</a:t>
            </a:r>
          </a:p>
          <a:p>
            <a:pPr marL="876292" lvl="1" indent="-571500">
              <a:buFont typeface="Arial" panose="020B0604020202020204" pitchFamily="34" charset="0"/>
              <a:buChar char="•"/>
            </a:pPr>
            <a:r>
              <a:rPr lang="en-US" dirty="0"/>
              <a:t>Requires the trust and respect of the entire organization</a:t>
            </a:r>
          </a:p>
        </p:txBody>
      </p:sp>
    </p:spTree>
    <p:extLst>
      <p:ext uri="{BB962C8B-B14F-4D97-AF65-F5344CB8AC3E}">
        <p14:creationId xmlns:p14="http://schemas.microsoft.com/office/powerpoint/2010/main" val="440551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48982-C54E-0744-B875-F7088803B699}"/>
              </a:ext>
            </a:extLst>
          </p:cNvPr>
          <p:cNvSpPr>
            <a:spLocks noGrp="1"/>
          </p:cNvSpPr>
          <p:nvPr>
            <p:ph type="title"/>
          </p:nvPr>
        </p:nvSpPr>
        <p:spPr/>
        <p:txBody>
          <a:bodyPr/>
          <a:lstStyle/>
          <a:p>
            <a:r>
              <a:rPr lang="en-US" dirty="0"/>
              <a:t>Managing the Product Backlog</a:t>
            </a:r>
          </a:p>
        </p:txBody>
      </p:sp>
      <p:sp>
        <p:nvSpPr>
          <p:cNvPr id="3" name="Text Placeholder 2">
            <a:extLst>
              <a:ext uri="{FF2B5EF4-FFF2-40B4-BE49-F238E27FC236}">
                <a16:creationId xmlns:a16="http://schemas.microsoft.com/office/drawing/2014/main" id="{FDC40B49-AF24-D349-83B6-85B25F735F7A}"/>
              </a:ext>
            </a:extLst>
          </p:cNvPr>
          <p:cNvSpPr>
            <a:spLocks noGrp="1"/>
          </p:cNvSpPr>
          <p:nvPr>
            <p:ph type="body" sz="quarter" idx="13"/>
          </p:nvPr>
        </p:nvSpPr>
        <p:spPr/>
        <p:txBody>
          <a:bodyPr>
            <a:noAutofit/>
          </a:bodyPr>
          <a:lstStyle/>
          <a:p>
            <a:pPr marL="571500" indent="-571500">
              <a:buFont typeface="Arial" panose="020B0604020202020204" pitchFamily="34" charset="0"/>
              <a:buChar char="•"/>
            </a:pPr>
            <a:r>
              <a:rPr lang="en-US" sz="3600" dirty="0"/>
              <a:t>The Product Owner's primary responsibility is the Product Backlog</a:t>
            </a:r>
          </a:p>
          <a:p>
            <a:pPr marL="876292" lvl="1" indent="-571500">
              <a:buFont typeface="Arial" panose="020B0604020202020204" pitchFamily="34" charset="0"/>
              <a:buChar char="•"/>
            </a:pPr>
            <a:r>
              <a:rPr lang="en-US" sz="3000" dirty="0"/>
              <a:t>Ensuring the backlog items are clear and correct representations of the requirements</a:t>
            </a:r>
          </a:p>
          <a:p>
            <a:pPr marL="876292" lvl="1" indent="-571500">
              <a:buFont typeface="Arial" panose="020B0604020202020204" pitchFamily="34" charset="0"/>
              <a:buChar char="•"/>
            </a:pPr>
            <a:r>
              <a:rPr lang="en-US" sz="3000" dirty="0"/>
              <a:t>Ensuring that the highest value items are first on the backlog</a:t>
            </a:r>
          </a:p>
          <a:p>
            <a:pPr marL="876292" lvl="1" indent="-571500">
              <a:buFont typeface="Arial" panose="020B0604020202020204" pitchFamily="34" charset="0"/>
              <a:buChar char="•"/>
            </a:pPr>
            <a:r>
              <a:rPr lang="en-US" sz="3000" dirty="0"/>
              <a:t>Ensuring that the Development Team understands the backlog items</a:t>
            </a:r>
          </a:p>
          <a:p>
            <a:pPr marL="876292" lvl="1" indent="-571500">
              <a:buFont typeface="Arial" panose="020B0604020202020204" pitchFamily="34" charset="0"/>
              <a:buChar char="•"/>
            </a:pPr>
            <a:r>
              <a:rPr lang="en-US" sz="3000" dirty="0"/>
              <a:t>Ensuring that the backlog is transparent to all interested parties in the organization.</a:t>
            </a:r>
          </a:p>
        </p:txBody>
      </p:sp>
    </p:spTree>
    <p:extLst>
      <p:ext uri="{BB962C8B-B14F-4D97-AF65-F5344CB8AC3E}">
        <p14:creationId xmlns:p14="http://schemas.microsoft.com/office/powerpoint/2010/main" val="2831753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DB0F-2B99-E844-83A5-5DDB093469FA}"/>
              </a:ext>
            </a:extLst>
          </p:cNvPr>
          <p:cNvSpPr>
            <a:spLocks noGrp="1"/>
          </p:cNvSpPr>
          <p:nvPr>
            <p:ph type="title"/>
          </p:nvPr>
        </p:nvSpPr>
        <p:spPr/>
        <p:txBody>
          <a:bodyPr/>
          <a:lstStyle/>
          <a:p>
            <a:r>
              <a:rPr lang="en-US" dirty="0"/>
              <a:t>Managing the Product Backlog</a:t>
            </a:r>
          </a:p>
        </p:txBody>
      </p:sp>
      <p:sp>
        <p:nvSpPr>
          <p:cNvPr id="3" name="Text Placeholder 2">
            <a:extLst>
              <a:ext uri="{FF2B5EF4-FFF2-40B4-BE49-F238E27FC236}">
                <a16:creationId xmlns:a16="http://schemas.microsoft.com/office/drawing/2014/main" id="{D9A0B883-9A1E-5146-97BC-147E12CAE1DB}"/>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No one can change the product backlog other than the Product Owner.</a:t>
            </a:r>
          </a:p>
          <a:p>
            <a:pPr marL="876292" lvl="1" indent="-571500">
              <a:buFont typeface="Arial" panose="020B0604020202020204" pitchFamily="34" charset="0"/>
              <a:buChar char="•"/>
            </a:pPr>
            <a:r>
              <a:rPr lang="en-US" sz="3000" dirty="0"/>
              <a:t>Not her immediate superior</a:t>
            </a:r>
          </a:p>
          <a:p>
            <a:pPr marL="876292" lvl="1" indent="-571500">
              <a:buFont typeface="Arial" panose="020B0604020202020204" pitchFamily="34" charset="0"/>
              <a:buChar char="•"/>
            </a:pPr>
            <a:r>
              <a:rPr lang="en-US" sz="3000" dirty="0"/>
              <a:t>Not the CIO</a:t>
            </a:r>
          </a:p>
          <a:p>
            <a:pPr marL="876292" lvl="1" indent="-571500">
              <a:buFont typeface="Arial" panose="020B0604020202020204" pitchFamily="34" charset="0"/>
              <a:buChar char="•"/>
            </a:pPr>
            <a:r>
              <a:rPr lang="en-US" sz="3000" dirty="0"/>
              <a:t>Not the AVP over the group the product is being made for</a:t>
            </a:r>
          </a:p>
          <a:p>
            <a:pPr marL="876292" lvl="1" indent="-571500">
              <a:buFont typeface="Arial" panose="020B0604020202020204" pitchFamily="34" charset="0"/>
              <a:buChar char="•"/>
            </a:pPr>
            <a:r>
              <a:rPr lang="en-US" sz="3000" dirty="0"/>
              <a:t>Not the Scrum Master or Development team (although naturally they consult with the Product Owner more regularly than others).</a:t>
            </a:r>
          </a:p>
        </p:txBody>
      </p:sp>
    </p:spTree>
    <p:extLst>
      <p:ext uri="{BB962C8B-B14F-4D97-AF65-F5344CB8AC3E}">
        <p14:creationId xmlns:p14="http://schemas.microsoft.com/office/powerpoint/2010/main" val="81428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C8B8F-056F-B642-97A5-FC26CA0D681F}"/>
              </a:ext>
            </a:extLst>
          </p:cNvPr>
          <p:cNvSpPr>
            <a:spLocks noGrp="1"/>
          </p:cNvSpPr>
          <p:nvPr>
            <p:ph type="title"/>
          </p:nvPr>
        </p:nvSpPr>
        <p:spPr/>
        <p:txBody>
          <a:bodyPr/>
          <a:lstStyle/>
          <a:p>
            <a:r>
              <a:rPr lang="en-US" dirty="0"/>
              <a:t>Product Owner as Arbiter</a:t>
            </a:r>
          </a:p>
        </p:txBody>
      </p:sp>
      <p:sp>
        <p:nvSpPr>
          <p:cNvPr id="3" name="Text Placeholder 2">
            <a:extLst>
              <a:ext uri="{FF2B5EF4-FFF2-40B4-BE49-F238E27FC236}">
                <a16:creationId xmlns:a16="http://schemas.microsoft.com/office/drawing/2014/main" id="{26861FCC-3C59-4141-85EC-106FA9FEC3CC}"/>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The Product Owner is responsible for resolving conflicting needs and desires</a:t>
            </a:r>
          </a:p>
          <a:p>
            <a:pPr marL="876292" lvl="1" indent="-571500">
              <a:buFont typeface="Arial" panose="020B0604020202020204" pitchFamily="34" charset="0"/>
              <a:buChar char="•"/>
            </a:pPr>
            <a:r>
              <a:rPr lang="en-US" dirty="0"/>
              <a:t>What gets on the backlog</a:t>
            </a:r>
          </a:p>
          <a:p>
            <a:pPr marL="876292" lvl="1" indent="-571500">
              <a:buFont typeface="Arial" panose="020B0604020202020204" pitchFamily="34" charset="0"/>
              <a:buChar char="•"/>
            </a:pPr>
            <a:r>
              <a:rPr lang="en-US" dirty="0"/>
              <a:t>What has more value than what</a:t>
            </a:r>
          </a:p>
          <a:p>
            <a:pPr marL="876292" lvl="1" indent="-571500">
              <a:buFont typeface="Arial" panose="020B0604020202020204" pitchFamily="34" charset="0"/>
              <a:buChar char="•"/>
            </a:pPr>
            <a:r>
              <a:rPr lang="en-US" dirty="0"/>
              <a:t>How specific requirements get expressed</a:t>
            </a:r>
          </a:p>
          <a:p>
            <a:pPr marL="571500" indent="-571500">
              <a:buFont typeface="Arial" panose="020B0604020202020204" pitchFamily="34" charset="0"/>
              <a:buChar char="•"/>
            </a:pPr>
            <a:r>
              <a:rPr lang="en-US" dirty="0"/>
              <a:t>A trusted, respected Product Owner eliminates decision paralysis and ensures high team productivity.</a:t>
            </a:r>
          </a:p>
        </p:txBody>
      </p:sp>
    </p:spTree>
    <p:extLst>
      <p:ext uri="{BB962C8B-B14F-4D97-AF65-F5344CB8AC3E}">
        <p14:creationId xmlns:p14="http://schemas.microsoft.com/office/powerpoint/2010/main" val="2715018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01C9E-D07E-8B40-A59C-D12441352782}"/>
              </a:ext>
            </a:extLst>
          </p:cNvPr>
          <p:cNvSpPr>
            <a:spLocks noGrp="1"/>
          </p:cNvSpPr>
          <p:nvPr>
            <p:ph type="title"/>
          </p:nvPr>
        </p:nvSpPr>
        <p:spPr/>
        <p:txBody>
          <a:bodyPr/>
          <a:lstStyle/>
          <a:p>
            <a:r>
              <a:rPr lang="en-US" dirty="0"/>
              <a:t>Product Owner Services</a:t>
            </a:r>
          </a:p>
        </p:txBody>
      </p:sp>
      <p:sp>
        <p:nvSpPr>
          <p:cNvPr id="3" name="Text Placeholder 2">
            <a:extLst>
              <a:ext uri="{FF2B5EF4-FFF2-40B4-BE49-F238E27FC236}">
                <a16:creationId xmlns:a16="http://schemas.microsoft.com/office/drawing/2014/main" id="{CC9B70CB-00B2-8742-A759-AAF29C6062D6}"/>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To the Development Team</a:t>
            </a:r>
          </a:p>
          <a:p>
            <a:pPr marL="876292" lvl="1" indent="-571500">
              <a:buFont typeface="Arial" panose="020B0604020202020204" pitchFamily="34" charset="0"/>
              <a:buChar char="•"/>
            </a:pPr>
            <a:r>
              <a:rPr lang="en-US" dirty="0"/>
              <a:t>Sharing vision</a:t>
            </a:r>
          </a:p>
          <a:p>
            <a:pPr marL="876292" lvl="1" indent="-571500">
              <a:buFont typeface="Arial" panose="020B0604020202020204" pitchFamily="34" charset="0"/>
              <a:buChar char="•"/>
            </a:pPr>
            <a:r>
              <a:rPr lang="en-US" dirty="0"/>
              <a:t>Clarifying Product Backlog items</a:t>
            </a:r>
          </a:p>
          <a:p>
            <a:pPr marL="876292" lvl="1" indent="-571500">
              <a:buFont typeface="Arial" panose="020B0604020202020204" pitchFamily="34" charset="0"/>
              <a:buChar char="•"/>
            </a:pPr>
            <a:r>
              <a:rPr lang="en-US" dirty="0"/>
              <a:t>Communicating stakeholder input (and buffering the Development Team from direct stakeholder interaction)</a:t>
            </a:r>
          </a:p>
          <a:p>
            <a:pPr marL="876292" lvl="1" indent="-571500">
              <a:buFont typeface="Arial" panose="020B0604020202020204" pitchFamily="34" charset="0"/>
              <a:buChar char="•"/>
            </a:pPr>
            <a:r>
              <a:rPr lang="en-US" dirty="0"/>
              <a:t>Keeping the Product Backlog up to date</a:t>
            </a:r>
          </a:p>
        </p:txBody>
      </p:sp>
    </p:spTree>
    <p:extLst>
      <p:ext uri="{BB962C8B-B14F-4D97-AF65-F5344CB8AC3E}">
        <p14:creationId xmlns:p14="http://schemas.microsoft.com/office/powerpoint/2010/main" val="3778728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778D0-54EB-424F-878E-C1EBD07DF4D7}"/>
              </a:ext>
            </a:extLst>
          </p:cNvPr>
          <p:cNvSpPr>
            <a:spLocks noGrp="1"/>
          </p:cNvSpPr>
          <p:nvPr>
            <p:ph type="title"/>
          </p:nvPr>
        </p:nvSpPr>
        <p:spPr/>
        <p:txBody>
          <a:bodyPr/>
          <a:lstStyle/>
          <a:p>
            <a:r>
              <a:rPr lang="en-US" dirty="0"/>
              <a:t>Product Owner Services</a:t>
            </a:r>
          </a:p>
        </p:txBody>
      </p:sp>
      <p:sp>
        <p:nvSpPr>
          <p:cNvPr id="3" name="Text Placeholder 2">
            <a:extLst>
              <a:ext uri="{FF2B5EF4-FFF2-40B4-BE49-F238E27FC236}">
                <a16:creationId xmlns:a16="http://schemas.microsoft.com/office/drawing/2014/main" id="{1C383FBA-9B7F-4846-9F01-3888FCC6C44A}"/>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To the Scrum Master</a:t>
            </a:r>
          </a:p>
          <a:p>
            <a:pPr marL="876292" lvl="1" indent="-571500">
              <a:buFont typeface="Arial" panose="020B0604020202020204" pitchFamily="34" charset="0"/>
              <a:buChar char="•"/>
            </a:pPr>
            <a:r>
              <a:rPr lang="en-US" dirty="0"/>
              <a:t>Timely, open, and transparent communication regarding real or potential impediments arising from outside the team</a:t>
            </a:r>
          </a:p>
          <a:p>
            <a:pPr marL="876292" lvl="1" indent="-571500">
              <a:buFont typeface="Arial" panose="020B0604020202020204" pitchFamily="34" charset="0"/>
              <a:buChar char="•"/>
            </a:pPr>
            <a:r>
              <a:rPr lang="en-US" dirty="0"/>
              <a:t>Advocating for the Scrum Master's importance among stakeholders (with whom the Product Owner often has more established relationships)</a:t>
            </a:r>
          </a:p>
        </p:txBody>
      </p:sp>
    </p:spTree>
    <p:extLst>
      <p:ext uri="{BB962C8B-B14F-4D97-AF65-F5344CB8AC3E}">
        <p14:creationId xmlns:p14="http://schemas.microsoft.com/office/powerpoint/2010/main" val="1595235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DBA264-EE4C-EB49-8F60-FA0FCA2B4732}"/>
              </a:ext>
            </a:extLst>
          </p:cNvPr>
          <p:cNvSpPr>
            <a:spLocks noGrp="1"/>
          </p:cNvSpPr>
          <p:nvPr>
            <p:ph type="body" sz="quarter" idx="14"/>
          </p:nvPr>
        </p:nvSpPr>
        <p:spPr/>
        <p:txBody>
          <a:bodyPr/>
          <a:lstStyle/>
          <a:p>
            <a:r>
              <a:rPr lang="en-US" dirty="0"/>
              <a:t>The Product Backlog</a:t>
            </a:r>
          </a:p>
        </p:txBody>
      </p:sp>
    </p:spTree>
    <p:extLst>
      <p:ext uri="{BB962C8B-B14F-4D97-AF65-F5344CB8AC3E}">
        <p14:creationId xmlns:p14="http://schemas.microsoft.com/office/powerpoint/2010/main" val="1058574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3680A-B4E9-2145-A550-9D6D0CD65353}"/>
              </a:ext>
            </a:extLst>
          </p:cNvPr>
          <p:cNvSpPr>
            <a:spLocks noGrp="1"/>
          </p:cNvSpPr>
          <p:nvPr>
            <p:ph type="title"/>
          </p:nvPr>
        </p:nvSpPr>
        <p:spPr/>
        <p:txBody>
          <a:bodyPr/>
          <a:lstStyle/>
          <a:p>
            <a:r>
              <a:rPr lang="en-US" dirty="0"/>
              <a:t>Product Backlog</a:t>
            </a:r>
          </a:p>
        </p:txBody>
      </p:sp>
      <p:sp>
        <p:nvSpPr>
          <p:cNvPr id="3" name="Text Placeholder 2">
            <a:extLst>
              <a:ext uri="{FF2B5EF4-FFF2-40B4-BE49-F238E27FC236}">
                <a16:creationId xmlns:a16="http://schemas.microsoft.com/office/drawing/2014/main" id="{FC8FAAC5-B051-AA42-A94F-EAF6ACA0CCA8}"/>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Repository of all outstanding work to be done on the product for the product's entire life</a:t>
            </a:r>
          </a:p>
          <a:p>
            <a:pPr marL="571500" indent="-571500">
              <a:buFont typeface="Arial" panose="020B0604020202020204" pitchFamily="34" charset="0"/>
              <a:buChar char="•"/>
            </a:pPr>
            <a:r>
              <a:rPr lang="en-US" dirty="0"/>
              <a:t>Never complete as long as the product is active</a:t>
            </a:r>
          </a:p>
          <a:p>
            <a:pPr marL="876292" lvl="1" indent="-571500">
              <a:buFont typeface="Arial" panose="020B0604020202020204" pitchFamily="34" charset="0"/>
              <a:buChar char="•"/>
            </a:pPr>
            <a:r>
              <a:rPr lang="en-US" dirty="0"/>
              <a:t>Requirements get added, removed, and changed</a:t>
            </a:r>
          </a:p>
          <a:p>
            <a:pPr marL="876292" lvl="1" indent="-571500">
              <a:buFont typeface="Arial" panose="020B0604020202020204" pitchFamily="34" charset="0"/>
              <a:buChar char="•"/>
            </a:pPr>
            <a:r>
              <a:rPr lang="en-US" dirty="0"/>
              <a:t>Enhancements get added</a:t>
            </a:r>
          </a:p>
          <a:p>
            <a:pPr marL="876292" lvl="1" indent="-571500">
              <a:buFont typeface="Arial" panose="020B0604020202020204" pitchFamily="34" charset="0"/>
              <a:buChar char="•"/>
            </a:pPr>
            <a:r>
              <a:rPr lang="en-US" dirty="0"/>
              <a:t>Bug fixed get added</a:t>
            </a:r>
          </a:p>
          <a:p>
            <a:pPr marL="876292" lvl="1" indent="-571500">
              <a:buFont typeface="Arial" panose="020B0604020202020204" pitchFamily="34" charset="0"/>
              <a:buChar char="•"/>
            </a:pPr>
            <a:r>
              <a:rPr lang="en-US" dirty="0"/>
              <a:t>Low-priority items may linger for years and then be brought to the top</a:t>
            </a:r>
          </a:p>
        </p:txBody>
      </p:sp>
    </p:spTree>
    <p:extLst>
      <p:ext uri="{BB962C8B-B14F-4D97-AF65-F5344CB8AC3E}">
        <p14:creationId xmlns:p14="http://schemas.microsoft.com/office/powerpoint/2010/main" val="2993467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8356-A2AB-2A43-9CD0-8267304FED67}"/>
              </a:ext>
            </a:extLst>
          </p:cNvPr>
          <p:cNvSpPr>
            <a:spLocks noGrp="1"/>
          </p:cNvSpPr>
          <p:nvPr>
            <p:ph type="title"/>
          </p:nvPr>
        </p:nvSpPr>
        <p:spPr/>
        <p:txBody>
          <a:bodyPr/>
          <a:lstStyle/>
          <a:p>
            <a:r>
              <a:rPr lang="en-US" dirty="0"/>
              <a:t>Product Backlog</a:t>
            </a:r>
          </a:p>
        </p:txBody>
      </p:sp>
      <p:sp>
        <p:nvSpPr>
          <p:cNvPr id="3" name="Text Placeholder 2">
            <a:extLst>
              <a:ext uri="{FF2B5EF4-FFF2-40B4-BE49-F238E27FC236}">
                <a16:creationId xmlns:a16="http://schemas.microsoft.com/office/drawing/2014/main" id="{8771B8E4-7765-8C4D-8AD0-E18A319826B0}"/>
              </a:ext>
            </a:extLst>
          </p:cNvPr>
          <p:cNvSpPr>
            <a:spLocks noGrp="1"/>
          </p:cNvSpPr>
          <p:nvPr>
            <p:ph type="body" sz="quarter" idx="13"/>
          </p:nvPr>
        </p:nvSpPr>
        <p:spPr/>
        <p:txBody>
          <a:bodyPr/>
          <a:lstStyle/>
          <a:p>
            <a:r>
              <a:rPr lang="en-US" dirty="0"/>
              <a:t>There are three key components of the Product Backlog</a:t>
            </a:r>
          </a:p>
          <a:p>
            <a:pPr marL="571500" indent="-571500">
              <a:buFont typeface="Arial" panose="020B0604020202020204" pitchFamily="34" charset="0"/>
              <a:buChar char="•"/>
            </a:pPr>
            <a:r>
              <a:rPr lang="en-US" dirty="0"/>
              <a:t>User Stories/enhancements/fixes</a:t>
            </a:r>
          </a:p>
          <a:p>
            <a:pPr marL="571500" indent="-571500">
              <a:buFont typeface="Arial" panose="020B0604020202020204" pitchFamily="34" charset="0"/>
              <a:buChar char="•"/>
            </a:pPr>
            <a:r>
              <a:rPr lang="en-US" dirty="0"/>
              <a:t>The prioritization of items</a:t>
            </a:r>
          </a:p>
          <a:p>
            <a:pPr marL="571500" indent="-571500">
              <a:buFont typeface="Arial" panose="020B0604020202020204" pitchFamily="34" charset="0"/>
              <a:buChar char="•"/>
            </a:pPr>
            <a:r>
              <a:rPr lang="en-US" dirty="0"/>
              <a:t>The effort estimation of items</a:t>
            </a:r>
          </a:p>
        </p:txBody>
      </p:sp>
    </p:spTree>
    <p:extLst>
      <p:ext uri="{BB962C8B-B14F-4D97-AF65-F5344CB8AC3E}">
        <p14:creationId xmlns:p14="http://schemas.microsoft.com/office/powerpoint/2010/main" val="2060673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EB3FB-CDD3-A047-AF66-551295D85CFB}"/>
              </a:ext>
            </a:extLst>
          </p:cNvPr>
          <p:cNvSpPr>
            <a:spLocks noGrp="1"/>
          </p:cNvSpPr>
          <p:nvPr>
            <p:ph type="title"/>
          </p:nvPr>
        </p:nvSpPr>
        <p:spPr/>
        <p:txBody>
          <a:bodyPr/>
          <a:lstStyle/>
          <a:p>
            <a:r>
              <a:rPr lang="en-US" dirty="0"/>
              <a:t>User Stories</a:t>
            </a:r>
          </a:p>
        </p:txBody>
      </p:sp>
      <p:sp>
        <p:nvSpPr>
          <p:cNvPr id="3" name="Text Placeholder 2">
            <a:extLst>
              <a:ext uri="{FF2B5EF4-FFF2-40B4-BE49-F238E27FC236}">
                <a16:creationId xmlns:a16="http://schemas.microsoft.com/office/drawing/2014/main" id="{139240E1-8D9B-EE4B-A54A-15C23DFE02A6}"/>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Represent a particular user interaction with the product</a:t>
            </a:r>
          </a:p>
          <a:p>
            <a:pPr marL="571500" indent="-571500">
              <a:buFont typeface="Arial" panose="020B0604020202020204" pitchFamily="34" charset="0"/>
              <a:buChar char="•"/>
            </a:pPr>
            <a:r>
              <a:rPr lang="en-US" dirty="0"/>
              <a:t>Collectively represent the entire product</a:t>
            </a:r>
          </a:p>
          <a:p>
            <a:pPr marL="571500" indent="-571500">
              <a:buFont typeface="Arial" panose="020B0604020202020204" pitchFamily="34" charset="0"/>
              <a:buChar char="•"/>
            </a:pPr>
            <a:r>
              <a:rPr lang="en-US" dirty="0"/>
              <a:t>Are written by the stakeholders and managed by the Product Owner</a:t>
            </a:r>
          </a:p>
          <a:p>
            <a:pPr marL="571500" indent="-571500">
              <a:buFont typeface="Arial" panose="020B0604020202020204" pitchFamily="34" charset="0"/>
              <a:buChar char="•"/>
            </a:pPr>
            <a:r>
              <a:rPr lang="en-US" dirty="0"/>
              <a:t>Are initially very simple</a:t>
            </a:r>
          </a:p>
          <a:p>
            <a:pPr marL="876292" lvl="1" indent="-571500">
              <a:buFont typeface="Arial" panose="020B0604020202020204" pitchFamily="34" charset="0"/>
              <a:buChar char="•"/>
            </a:pPr>
            <a:r>
              <a:rPr lang="en-US" dirty="0"/>
              <a:t>"A customer can view their account information"</a:t>
            </a:r>
          </a:p>
        </p:txBody>
      </p:sp>
    </p:spTree>
    <p:extLst>
      <p:ext uri="{BB962C8B-B14F-4D97-AF65-F5344CB8AC3E}">
        <p14:creationId xmlns:p14="http://schemas.microsoft.com/office/powerpoint/2010/main" val="26233001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97BF2-5C79-974A-8408-A6ECCC65340F}"/>
              </a:ext>
            </a:extLst>
          </p:cNvPr>
          <p:cNvSpPr>
            <a:spLocks noGrp="1"/>
          </p:cNvSpPr>
          <p:nvPr>
            <p:ph type="title"/>
          </p:nvPr>
        </p:nvSpPr>
        <p:spPr/>
        <p:txBody>
          <a:bodyPr/>
          <a:lstStyle/>
          <a:p>
            <a:r>
              <a:rPr lang="en-US" dirty="0"/>
              <a:t>User Stories</a:t>
            </a:r>
          </a:p>
        </p:txBody>
      </p:sp>
      <p:sp>
        <p:nvSpPr>
          <p:cNvPr id="3" name="Text Placeholder 2">
            <a:extLst>
              <a:ext uri="{FF2B5EF4-FFF2-40B4-BE49-F238E27FC236}">
                <a16:creationId xmlns:a16="http://schemas.microsoft.com/office/drawing/2014/main" id="{20FBACA7-1F67-864E-A625-2C6C9E4229E9}"/>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User stories are refined and clarified as they become close to being selected for a sprint</a:t>
            </a:r>
          </a:p>
          <a:p>
            <a:pPr marL="571500" indent="-571500">
              <a:buFont typeface="Arial" panose="020B0604020202020204" pitchFamily="34" charset="0"/>
              <a:buChar char="•"/>
            </a:pPr>
            <a:r>
              <a:rPr lang="en-US" dirty="0"/>
              <a:t>The Product Owner provides clarification on them based on stakeholder input and questions from the development team</a:t>
            </a:r>
          </a:p>
          <a:p>
            <a:pPr marL="571500" indent="-571500">
              <a:buFont typeface="Arial" panose="020B0604020202020204" pitchFamily="34" charset="0"/>
              <a:buChar char="•"/>
            </a:pPr>
            <a:r>
              <a:rPr lang="en-US" dirty="0"/>
              <a:t>Stories are </a:t>
            </a:r>
            <a:r>
              <a:rPr lang="en-US" i="1" dirty="0"/>
              <a:t>not</a:t>
            </a:r>
            <a:r>
              <a:rPr lang="en-US" dirty="0"/>
              <a:t> clarified while low priority due to the likelihood of their meaning changing or their being dropped or replaced.</a:t>
            </a:r>
          </a:p>
        </p:txBody>
      </p:sp>
    </p:spTree>
    <p:extLst>
      <p:ext uri="{BB962C8B-B14F-4D97-AF65-F5344CB8AC3E}">
        <p14:creationId xmlns:p14="http://schemas.microsoft.com/office/powerpoint/2010/main" val="1129723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6DA8E-2610-9F49-99BF-1B6BAEEE37C4}"/>
              </a:ext>
            </a:extLst>
          </p:cNvPr>
          <p:cNvSpPr>
            <a:spLocks noGrp="1"/>
          </p:cNvSpPr>
          <p:nvPr>
            <p:ph type="title"/>
          </p:nvPr>
        </p:nvSpPr>
        <p:spPr/>
        <p:txBody>
          <a:bodyPr/>
          <a:lstStyle/>
          <a:p>
            <a:r>
              <a:rPr lang="en-US" dirty="0"/>
              <a:t>Epics</a:t>
            </a:r>
          </a:p>
        </p:txBody>
      </p:sp>
      <p:sp>
        <p:nvSpPr>
          <p:cNvPr id="3" name="Text Placeholder 2">
            <a:extLst>
              <a:ext uri="{FF2B5EF4-FFF2-40B4-BE49-F238E27FC236}">
                <a16:creationId xmlns:a16="http://schemas.microsoft.com/office/drawing/2014/main" id="{9197A603-A72A-0945-B79E-702EF7BE0C52}"/>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Stories that represent complex interactions with the system that may be difficult to complete within a single sprint are called Epics</a:t>
            </a:r>
          </a:p>
          <a:p>
            <a:pPr marL="876292" lvl="1" indent="-571500">
              <a:buFont typeface="Arial" panose="020B0604020202020204" pitchFamily="34" charset="0"/>
              <a:buChar char="•"/>
            </a:pPr>
            <a:r>
              <a:rPr lang="en-US" dirty="0"/>
              <a:t>Part of refining epics is creating smaller story components of them that can be estimated and selected for inclusion in a sprint independently</a:t>
            </a:r>
          </a:p>
          <a:p>
            <a:pPr marL="876292" lvl="1" indent="-571500">
              <a:buFont typeface="Arial" panose="020B0604020202020204" pitchFamily="34" charset="0"/>
              <a:buChar char="•"/>
            </a:pPr>
            <a:r>
              <a:rPr lang="en-US" dirty="0"/>
              <a:t>Epics, like sprints, are only refined as they become high priority.</a:t>
            </a:r>
          </a:p>
        </p:txBody>
      </p:sp>
    </p:spTree>
    <p:extLst>
      <p:ext uri="{BB962C8B-B14F-4D97-AF65-F5344CB8AC3E}">
        <p14:creationId xmlns:p14="http://schemas.microsoft.com/office/powerpoint/2010/main" val="1935001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43EB0-5E7B-9C47-8F0A-9696C21A9799}"/>
              </a:ext>
            </a:extLst>
          </p:cNvPr>
          <p:cNvSpPr>
            <a:spLocks noGrp="1"/>
          </p:cNvSpPr>
          <p:nvPr>
            <p:ph type="title"/>
          </p:nvPr>
        </p:nvSpPr>
        <p:spPr/>
        <p:txBody>
          <a:bodyPr/>
          <a:lstStyle/>
          <a:p>
            <a:r>
              <a:rPr lang="en-US" dirty="0"/>
              <a:t>Prioritizing the Product Backlog</a:t>
            </a:r>
          </a:p>
        </p:txBody>
      </p:sp>
      <p:sp>
        <p:nvSpPr>
          <p:cNvPr id="3" name="Text Placeholder 2">
            <a:extLst>
              <a:ext uri="{FF2B5EF4-FFF2-40B4-BE49-F238E27FC236}">
                <a16:creationId xmlns:a16="http://schemas.microsoft.com/office/drawing/2014/main" id="{7613CCD4-3CBD-4D45-B3DC-83CBA87636CB}"/>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The Product Owner is responsible for prioritizing the product backlog.</a:t>
            </a:r>
          </a:p>
          <a:p>
            <a:pPr marL="876292" lvl="1" indent="-571500">
              <a:buFont typeface="Arial" panose="020B0604020202020204" pitchFamily="34" charset="0"/>
              <a:buChar char="•"/>
            </a:pPr>
            <a:r>
              <a:rPr lang="en-US" dirty="0"/>
              <a:t>Prioritization is done </a:t>
            </a:r>
            <a:r>
              <a:rPr lang="en-US" i="1" dirty="0"/>
              <a:t>solely</a:t>
            </a:r>
            <a:r>
              <a:rPr lang="en-US" dirty="0"/>
              <a:t> on the basis of the value stories have to the business</a:t>
            </a:r>
          </a:p>
          <a:p>
            <a:pPr marL="954608" lvl="2" indent="-571500">
              <a:buFont typeface="Arial" panose="020B0604020202020204" pitchFamily="34" charset="0"/>
              <a:buChar char="•"/>
            </a:pPr>
            <a:r>
              <a:rPr lang="en-US" dirty="0"/>
              <a:t>Not effort (do not prioritize "quick" items for the illusion of progress)</a:t>
            </a:r>
          </a:p>
          <a:p>
            <a:pPr marL="954608" lvl="2" indent="-571500">
              <a:buFont typeface="Arial" panose="020B0604020202020204" pitchFamily="34" charset="0"/>
              <a:buChar char="•"/>
            </a:pPr>
            <a:r>
              <a:rPr lang="en-US" dirty="0"/>
              <a:t>Not relevance to other high-priority items</a:t>
            </a:r>
          </a:p>
          <a:p>
            <a:pPr marL="1096420" lvl="3" indent="-571500">
              <a:buFont typeface="Arial" panose="020B0604020202020204" pitchFamily="34" charset="0"/>
              <a:buChar char="•"/>
            </a:pPr>
            <a:r>
              <a:rPr lang="en-US" dirty="0"/>
              <a:t>Don't prioritize an item from module A just because module A has a lot of work done on it</a:t>
            </a:r>
          </a:p>
        </p:txBody>
      </p:sp>
    </p:spTree>
    <p:extLst>
      <p:ext uri="{BB962C8B-B14F-4D97-AF65-F5344CB8AC3E}">
        <p14:creationId xmlns:p14="http://schemas.microsoft.com/office/powerpoint/2010/main" val="3128417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B4655-3136-CA4D-ADD3-0DD03D9F0022}"/>
              </a:ext>
            </a:extLst>
          </p:cNvPr>
          <p:cNvSpPr>
            <a:spLocks noGrp="1"/>
          </p:cNvSpPr>
          <p:nvPr>
            <p:ph type="title"/>
          </p:nvPr>
        </p:nvSpPr>
        <p:spPr/>
        <p:txBody>
          <a:bodyPr/>
          <a:lstStyle/>
          <a:p>
            <a:r>
              <a:rPr lang="en-US" dirty="0"/>
              <a:t>Prioritizing the Product Backlog</a:t>
            </a:r>
          </a:p>
        </p:txBody>
      </p:sp>
      <p:sp>
        <p:nvSpPr>
          <p:cNvPr id="3" name="Text Placeholder 2">
            <a:extLst>
              <a:ext uri="{FF2B5EF4-FFF2-40B4-BE49-F238E27FC236}">
                <a16:creationId xmlns:a16="http://schemas.microsoft.com/office/drawing/2014/main" id="{EBCFAC8E-41DC-214D-A5B7-2C3FA69BDF95}"/>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The Product Backlog is prioritized as needed</a:t>
            </a:r>
          </a:p>
          <a:p>
            <a:pPr marL="876292" lvl="1" indent="-571500">
              <a:buFont typeface="Arial" panose="020B0604020202020204" pitchFamily="34" charset="0"/>
              <a:buChar char="•"/>
            </a:pPr>
            <a:r>
              <a:rPr lang="en-US" dirty="0"/>
              <a:t>Like everything else, priorities now may be different from ones in 6 months</a:t>
            </a:r>
          </a:p>
          <a:p>
            <a:pPr marL="876292" lvl="1" indent="-571500">
              <a:buFont typeface="Arial" panose="020B0604020202020204" pitchFamily="34" charset="0"/>
              <a:buChar char="•"/>
            </a:pPr>
            <a:r>
              <a:rPr lang="en-US" dirty="0"/>
              <a:t>Prioritize a few months worth of items – roughly 2-4 sprints' worth</a:t>
            </a:r>
          </a:p>
          <a:p>
            <a:pPr marL="876292" lvl="1" indent="-571500">
              <a:buFont typeface="Arial" panose="020B0604020202020204" pitchFamily="34" charset="0"/>
              <a:buChar char="•"/>
            </a:pPr>
            <a:r>
              <a:rPr lang="en-US" dirty="0"/>
              <a:t>As items get removed, determine what needs to be added, review what's already at the top, and shuffle as needed</a:t>
            </a:r>
          </a:p>
        </p:txBody>
      </p:sp>
    </p:spTree>
    <p:extLst>
      <p:ext uri="{BB962C8B-B14F-4D97-AF65-F5344CB8AC3E}">
        <p14:creationId xmlns:p14="http://schemas.microsoft.com/office/powerpoint/2010/main" val="2731597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0521C-5D80-AB40-9C7C-C77A6C028296}"/>
              </a:ext>
            </a:extLst>
          </p:cNvPr>
          <p:cNvSpPr>
            <a:spLocks noGrp="1"/>
          </p:cNvSpPr>
          <p:nvPr>
            <p:ph type="title"/>
          </p:nvPr>
        </p:nvSpPr>
        <p:spPr/>
        <p:txBody>
          <a:bodyPr/>
          <a:lstStyle/>
          <a:p>
            <a:r>
              <a:rPr lang="en-US" dirty="0"/>
              <a:t>Managing the Product Backlog</a:t>
            </a:r>
          </a:p>
        </p:txBody>
      </p:sp>
      <p:sp>
        <p:nvSpPr>
          <p:cNvPr id="3" name="Text Placeholder 2">
            <a:extLst>
              <a:ext uri="{FF2B5EF4-FFF2-40B4-BE49-F238E27FC236}">
                <a16:creationId xmlns:a16="http://schemas.microsoft.com/office/drawing/2014/main" id="{45271120-7A27-7B43-A51E-25BA00E0D707}"/>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The Product Owner can change the contents or priority of the Product Backlog at any time.</a:t>
            </a:r>
          </a:p>
          <a:p>
            <a:pPr marL="571500" indent="-571500">
              <a:buFont typeface="Arial" panose="020B0604020202020204" pitchFamily="34" charset="0"/>
              <a:buChar char="•"/>
            </a:pPr>
            <a:r>
              <a:rPr lang="en-US" dirty="0"/>
              <a:t>The only restriction is that there must be time for the Development Team to provide any needed estimates of effort before items are pulled off for development.</a:t>
            </a:r>
          </a:p>
        </p:txBody>
      </p:sp>
    </p:spTree>
    <p:extLst>
      <p:ext uri="{BB962C8B-B14F-4D97-AF65-F5344CB8AC3E}">
        <p14:creationId xmlns:p14="http://schemas.microsoft.com/office/powerpoint/2010/main" val="3346230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9FE635-31EE-7745-A145-7B64CCF4C33D}"/>
              </a:ext>
            </a:extLst>
          </p:cNvPr>
          <p:cNvSpPr>
            <a:spLocks noGrp="1"/>
          </p:cNvSpPr>
          <p:nvPr>
            <p:ph type="body" sz="quarter" idx="14"/>
          </p:nvPr>
        </p:nvSpPr>
        <p:spPr/>
        <p:txBody>
          <a:bodyPr/>
          <a:lstStyle/>
          <a:p>
            <a:r>
              <a:rPr lang="en-US" dirty="0"/>
              <a:t>Sprint Planning</a:t>
            </a:r>
          </a:p>
        </p:txBody>
      </p:sp>
    </p:spTree>
    <p:extLst>
      <p:ext uri="{BB962C8B-B14F-4D97-AF65-F5344CB8AC3E}">
        <p14:creationId xmlns:p14="http://schemas.microsoft.com/office/powerpoint/2010/main" val="1634501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DED92-C510-944B-A32A-5B5F5B367DCA}"/>
              </a:ext>
            </a:extLst>
          </p:cNvPr>
          <p:cNvSpPr>
            <a:spLocks noGrp="1"/>
          </p:cNvSpPr>
          <p:nvPr>
            <p:ph type="title"/>
          </p:nvPr>
        </p:nvSpPr>
        <p:spPr/>
        <p:txBody>
          <a:bodyPr/>
          <a:lstStyle/>
          <a:p>
            <a:r>
              <a:rPr lang="en-US" dirty="0"/>
              <a:t>Sprint Planning</a:t>
            </a:r>
          </a:p>
        </p:txBody>
      </p:sp>
      <p:sp>
        <p:nvSpPr>
          <p:cNvPr id="3" name="Text Placeholder 2">
            <a:extLst>
              <a:ext uri="{FF2B5EF4-FFF2-40B4-BE49-F238E27FC236}">
                <a16:creationId xmlns:a16="http://schemas.microsoft.com/office/drawing/2014/main" id="{719ABCCC-9A24-7A49-8269-9A05A3D0D0E3}"/>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Entire Scrum Team participates</a:t>
            </a:r>
          </a:p>
          <a:p>
            <a:pPr marL="571500" indent="-571500">
              <a:buFont typeface="Arial" panose="020B0604020202020204" pitchFamily="34" charset="0"/>
              <a:buChar char="•"/>
            </a:pPr>
            <a:r>
              <a:rPr lang="en-US" dirty="0"/>
              <a:t>Produces two artifacts</a:t>
            </a:r>
          </a:p>
          <a:p>
            <a:pPr marL="876292" lvl="1" indent="-571500">
              <a:buFont typeface="Arial" panose="020B0604020202020204" pitchFamily="34" charset="0"/>
              <a:buChar char="•"/>
            </a:pPr>
            <a:r>
              <a:rPr lang="en-US" dirty="0"/>
              <a:t>The Sprint Backlog</a:t>
            </a:r>
          </a:p>
          <a:p>
            <a:pPr marL="876292" lvl="1" indent="-571500">
              <a:buFont typeface="Arial" panose="020B0604020202020204" pitchFamily="34" charset="0"/>
              <a:buChar char="•"/>
            </a:pPr>
            <a:r>
              <a:rPr lang="en-US" dirty="0"/>
              <a:t>The Sprint Goal</a:t>
            </a:r>
          </a:p>
        </p:txBody>
      </p:sp>
    </p:spTree>
    <p:extLst>
      <p:ext uri="{BB962C8B-B14F-4D97-AF65-F5344CB8AC3E}">
        <p14:creationId xmlns:p14="http://schemas.microsoft.com/office/powerpoint/2010/main" val="3169629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F1DD8-A82B-2247-82E2-BF70C7850E15}"/>
              </a:ext>
            </a:extLst>
          </p:cNvPr>
          <p:cNvSpPr>
            <a:spLocks noGrp="1"/>
          </p:cNvSpPr>
          <p:nvPr>
            <p:ph type="title"/>
          </p:nvPr>
        </p:nvSpPr>
        <p:spPr/>
        <p:txBody>
          <a:bodyPr/>
          <a:lstStyle/>
          <a:p>
            <a:r>
              <a:rPr lang="en-US" dirty="0"/>
              <a:t>PO Role in the Sprint Planning Meeting</a:t>
            </a:r>
          </a:p>
        </p:txBody>
      </p:sp>
      <p:sp>
        <p:nvSpPr>
          <p:cNvPr id="3" name="Text Placeholder 2">
            <a:extLst>
              <a:ext uri="{FF2B5EF4-FFF2-40B4-BE49-F238E27FC236}">
                <a16:creationId xmlns:a16="http://schemas.microsoft.com/office/drawing/2014/main" id="{084F26AD-6DC4-1447-AB68-331F81AFB7BA}"/>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The Product Owner is prepared to discuss, in detail, roughly two sprints worth of priority Product Backlog Items</a:t>
            </a:r>
          </a:p>
          <a:p>
            <a:pPr marL="571500" indent="-571500">
              <a:buFont typeface="Arial" panose="020B0604020202020204" pitchFamily="34" charset="0"/>
              <a:buChar char="•"/>
            </a:pPr>
            <a:r>
              <a:rPr lang="en-US" dirty="0"/>
              <a:t>In the context of these available items, the Product Owner and Development team collaboratively decide on the Sprint Goal</a:t>
            </a:r>
          </a:p>
          <a:p>
            <a:pPr marL="571500" indent="-571500">
              <a:buFont typeface="Arial" panose="020B0604020202020204" pitchFamily="34" charset="0"/>
              <a:buChar char="•"/>
            </a:pPr>
            <a:r>
              <a:rPr lang="en-US" dirty="0"/>
              <a:t>The Product Owner provides support as the Development Team plans the Sprint</a:t>
            </a:r>
          </a:p>
        </p:txBody>
      </p:sp>
    </p:spTree>
    <p:extLst>
      <p:ext uri="{BB962C8B-B14F-4D97-AF65-F5344CB8AC3E}">
        <p14:creationId xmlns:p14="http://schemas.microsoft.com/office/powerpoint/2010/main" val="20220491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0E47-BA49-2142-88AF-CC894FCF6719}"/>
              </a:ext>
            </a:extLst>
          </p:cNvPr>
          <p:cNvSpPr>
            <a:spLocks noGrp="1"/>
          </p:cNvSpPr>
          <p:nvPr>
            <p:ph type="title"/>
          </p:nvPr>
        </p:nvSpPr>
        <p:spPr/>
        <p:txBody>
          <a:bodyPr/>
          <a:lstStyle/>
          <a:p>
            <a:r>
              <a:rPr lang="en-US" dirty="0"/>
              <a:t>The Sprint Goal</a:t>
            </a:r>
          </a:p>
        </p:txBody>
      </p:sp>
      <p:sp>
        <p:nvSpPr>
          <p:cNvPr id="3" name="Text Placeholder 2">
            <a:extLst>
              <a:ext uri="{FF2B5EF4-FFF2-40B4-BE49-F238E27FC236}">
                <a16:creationId xmlns:a16="http://schemas.microsoft.com/office/drawing/2014/main" id="{9D0665C4-6F46-9F49-B20D-AF7D253F0B03}"/>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A one-two sentence statement of what this sprint will accomplish</a:t>
            </a:r>
          </a:p>
          <a:p>
            <a:pPr marL="571500" indent="-571500">
              <a:buFont typeface="Arial" panose="020B0604020202020204" pitchFamily="34" charset="0"/>
              <a:buChar char="•"/>
            </a:pPr>
            <a:r>
              <a:rPr lang="en-US" dirty="0"/>
              <a:t>The guiding statement for managing the sprint</a:t>
            </a:r>
          </a:p>
          <a:p>
            <a:pPr marL="571500" indent="-571500">
              <a:buFont typeface="Arial" panose="020B0604020202020204" pitchFamily="34" charset="0"/>
              <a:buChar char="•"/>
            </a:pPr>
            <a:r>
              <a:rPr lang="en-US" dirty="0"/>
              <a:t>The standard against which the success of the sprint is measured</a:t>
            </a:r>
          </a:p>
          <a:p>
            <a:pPr marL="571500" indent="-571500">
              <a:buFont typeface="Arial" panose="020B0604020202020204" pitchFamily="34" charset="0"/>
              <a:buChar char="•"/>
            </a:pPr>
            <a:r>
              <a:rPr lang="en-US" dirty="0"/>
              <a:t>Is understandable by outside stakeholders</a:t>
            </a:r>
          </a:p>
        </p:txBody>
      </p:sp>
    </p:spTree>
    <p:extLst>
      <p:ext uri="{BB962C8B-B14F-4D97-AF65-F5344CB8AC3E}">
        <p14:creationId xmlns:p14="http://schemas.microsoft.com/office/powerpoint/2010/main" val="22467407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B9CF15-F802-8442-9563-D294AD0D927E}"/>
              </a:ext>
            </a:extLst>
          </p:cNvPr>
          <p:cNvSpPr>
            <a:spLocks noGrp="1"/>
          </p:cNvSpPr>
          <p:nvPr>
            <p:ph type="body" sz="quarter" idx="14"/>
          </p:nvPr>
        </p:nvSpPr>
        <p:spPr/>
        <p:txBody>
          <a:bodyPr/>
          <a:lstStyle/>
          <a:p>
            <a:r>
              <a:rPr lang="en-US" dirty="0"/>
              <a:t>Daily Scrum</a:t>
            </a:r>
          </a:p>
        </p:txBody>
      </p:sp>
    </p:spTree>
    <p:extLst>
      <p:ext uri="{BB962C8B-B14F-4D97-AF65-F5344CB8AC3E}">
        <p14:creationId xmlns:p14="http://schemas.microsoft.com/office/powerpoint/2010/main" val="1902758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95E03-1AB8-E944-8434-548D72116723}"/>
              </a:ext>
            </a:extLst>
          </p:cNvPr>
          <p:cNvSpPr>
            <a:spLocks noGrp="1"/>
          </p:cNvSpPr>
          <p:nvPr>
            <p:ph type="title"/>
          </p:nvPr>
        </p:nvSpPr>
        <p:spPr/>
        <p:txBody>
          <a:bodyPr/>
          <a:lstStyle/>
          <a:p>
            <a:r>
              <a:rPr lang="en-US" dirty="0"/>
              <a:t>PO Role in the Daily Scrum</a:t>
            </a:r>
          </a:p>
        </p:txBody>
      </p:sp>
      <p:sp>
        <p:nvSpPr>
          <p:cNvPr id="3" name="Text Placeholder 2">
            <a:extLst>
              <a:ext uri="{FF2B5EF4-FFF2-40B4-BE49-F238E27FC236}">
                <a16:creationId xmlns:a16="http://schemas.microsoft.com/office/drawing/2014/main" id="{8412BD0B-C8B7-844D-96A0-4636DD7956D2}"/>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Product Owner has no role in the daily Scrum</a:t>
            </a:r>
          </a:p>
          <a:p>
            <a:pPr marL="571500" indent="-571500">
              <a:buFont typeface="Arial" panose="020B0604020202020204" pitchFamily="34" charset="0"/>
              <a:buChar char="•"/>
            </a:pPr>
            <a:r>
              <a:rPr lang="en-US" i="1" dirty="0"/>
              <a:t>Might</a:t>
            </a:r>
            <a:r>
              <a:rPr lang="en-US" dirty="0"/>
              <a:t> be invited if input is needed, but this is more appropriate to a separate meeting.</a:t>
            </a:r>
            <a:endParaRPr lang="en-US" i="1" dirty="0"/>
          </a:p>
        </p:txBody>
      </p:sp>
    </p:spTree>
    <p:extLst>
      <p:ext uri="{BB962C8B-B14F-4D97-AF65-F5344CB8AC3E}">
        <p14:creationId xmlns:p14="http://schemas.microsoft.com/office/powerpoint/2010/main" val="20758291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7193AC-2749-A846-BA23-BCF212972CA8}"/>
              </a:ext>
            </a:extLst>
          </p:cNvPr>
          <p:cNvSpPr>
            <a:spLocks noGrp="1"/>
          </p:cNvSpPr>
          <p:nvPr>
            <p:ph type="body" sz="quarter" idx="14"/>
          </p:nvPr>
        </p:nvSpPr>
        <p:spPr/>
        <p:txBody>
          <a:bodyPr/>
          <a:lstStyle/>
          <a:p>
            <a:r>
              <a:rPr lang="en-US" dirty="0"/>
              <a:t>Development Period</a:t>
            </a:r>
          </a:p>
        </p:txBody>
      </p:sp>
    </p:spTree>
    <p:extLst>
      <p:ext uri="{BB962C8B-B14F-4D97-AF65-F5344CB8AC3E}">
        <p14:creationId xmlns:p14="http://schemas.microsoft.com/office/powerpoint/2010/main" val="3502956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60296-8878-0947-8D8D-B116075E8AED}"/>
              </a:ext>
            </a:extLst>
          </p:cNvPr>
          <p:cNvSpPr>
            <a:spLocks noGrp="1"/>
          </p:cNvSpPr>
          <p:nvPr>
            <p:ph type="title"/>
          </p:nvPr>
        </p:nvSpPr>
        <p:spPr/>
        <p:txBody>
          <a:bodyPr/>
          <a:lstStyle/>
          <a:p>
            <a:r>
              <a:rPr lang="en-US" dirty="0"/>
              <a:t>PO Role in the Development Period</a:t>
            </a:r>
          </a:p>
        </p:txBody>
      </p:sp>
      <p:sp>
        <p:nvSpPr>
          <p:cNvPr id="3" name="Text Placeholder 2">
            <a:extLst>
              <a:ext uri="{FF2B5EF4-FFF2-40B4-BE49-F238E27FC236}">
                <a16:creationId xmlns:a16="http://schemas.microsoft.com/office/drawing/2014/main" id="{510C1883-1088-614C-8782-6C8E64A662B6}"/>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Availability to provide clarification to requirements</a:t>
            </a:r>
          </a:p>
          <a:p>
            <a:pPr marL="571500" indent="-571500">
              <a:buFont typeface="Arial" panose="020B0604020202020204" pitchFamily="34" charset="0"/>
              <a:buChar char="•"/>
            </a:pPr>
            <a:r>
              <a:rPr lang="en-US" dirty="0"/>
              <a:t>Interface (and buffer) between developers and stakeholders</a:t>
            </a:r>
          </a:p>
          <a:p>
            <a:pPr marL="571500" indent="-571500">
              <a:buFont typeface="Arial" panose="020B0604020202020204" pitchFamily="34" charset="0"/>
              <a:buChar char="•"/>
            </a:pPr>
            <a:r>
              <a:rPr lang="en-US" dirty="0"/>
              <a:t>Collaborate with Development team if work is over- or underestimated</a:t>
            </a:r>
          </a:p>
          <a:p>
            <a:pPr marL="571500" indent="-571500">
              <a:buFont typeface="Arial" panose="020B0604020202020204" pitchFamily="34" charset="0"/>
              <a:buChar char="•"/>
            </a:pPr>
            <a:r>
              <a:rPr lang="en-US" dirty="0"/>
              <a:t>Determine if a Sprint needs to be cancelled</a:t>
            </a:r>
          </a:p>
        </p:txBody>
      </p:sp>
    </p:spTree>
    <p:extLst>
      <p:ext uri="{BB962C8B-B14F-4D97-AF65-F5344CB8AC3E}">
        <p14:creationId xmlns:p14="http://schemas.microsoft.com/office/powerpoint/2010/main" val="37186870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20F45-443A-9447-AD97-1C3FDD0BD5AC}"/>
              </a:ext>
            </a:extLst>
          </p:cNvPr>
          <p:cNvSpPr>
            <a:spLocks noGrp="1"/>
          </p:cNvSpPr>
          <p:nvPr>
            <p:ph type="title"/>
          </p:nvPr>
        </p:nvSpPr>
        <p:spPr/>
        <p:txBody>
          <a:bodyPr/>
          <a:lstStyle/>
          <a:p>
            <a:r>
              <a:rPr lang="en-US" dirty="0"/>
              <a:t>Mis-estimated Sprint</a:t>
            </a:r>
          </a:p>
        </p:txBody>
      </p:sp>
      <p:sp>
        <p:nvSpPr>
          <p:cNvPr id="3" name="Text Placeholder 2">
            <a:extLst>
              <a:ext uri="{FF2B5EF4-FFF2-40B4-BE49-F238E27FC236}">
                <a16:creationId xmlns:a16="http://schemas.microsoft.com/office/drawing/2014/main" id="{1FA26336-7C62-C54E-8838-0B501C8A55AA}"/>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Over- and underestimating refer to the amount of work required for the backlog items</a:t>
            </a:r>
          </a:p>
          <a:p>
            <a:pPr marL="876292" lvl="1" indent="-571500">
              <a:buFont typeface="Arial" panose="020B0604020202020204" pitchFamily="34" charset="0"/>
              <a:buChar char="•"/>
            </a:pPr>
            <a:r>
              <a:rPr lang="en-US" dirty="0"/>
              <a:t>Overestimated Sprint doesn't have enough work</a:t>
            </a:r>
          </a:p>
          <a:p>
            <a:pPr marL="876292" lvl="1" indent="-571500">
              <a:buFont typeface="Arial" panose="020B0604020202020204" pitchFamily="34" charset="0"/>
              <a:buChar char="•"/>
            </a:pPr>
            <a:r>
              <a:rPr lang="en-US" dirty="0"/>
              <a:t>Underestimated Sprint has too much work	</a:t>
            </a:r>
          </a:p>
          <a:p>
            <a:pPr marL="571500" indent="-571500">
              <a:buFont typeface="Arial" panose="020B0604020202020204" pitchFamily="34" charset="0"/>
              <a:buChar char="•"/>
            </a:pPr>
            <a:r>
              <a:rPr lang="en-US" dirty="0"/>
              <a:t>Success for a Sprint is based on meeting the Sprint Goal.</a:t>
            </a:r>
          </a:p>
        </p:txBody>
      </p:sp>
    </p:spTree>
    <p:extLst>
      <p:ext uri="{BB962C8B-B14F-4D97-AF65-F5344CB8AC3E}">
        <p14:creationId xmlns:p14="http://schemas.microsoft.com/office/powerpoint/2010/main" val="3951329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B1F77-8440-784F-821F-D5411EBABDA1}"/>
              </a:ext>
            </a:extLst>
          </p:cNvPr>
          <p:cNvSpPr>
            <a:spLocks noGrp="1"/>
          </p:cNvSpPr>
          <p:nvPr>
            <p:ph type="title"/>
          </p:nvPr>
        </p:nvSpPr>
        <p:spPr/>
        <p:txBody>
          <a:bodyPr/>
          <a:lstStyle/>
          <a:p>
            <a:r>
              <a:rPr lang="en-US" dirty="0"/>
              <a:t>Overestimated Sprint</a:t>
            </a:r>
          </a:p>
        </p:txBody>
      </p:sp>
      <p:sp>
        <p:nvSpPr>
          <p:cNvPr id="3" name="Text Placeholder 2">
            <a:extLst>
              <a:ext uri="{FF2B5EF4-FFF2-40B4-BE49-F238E27FC236}">
                <a16:creationId xmlns:a16="http://schemas.microsoft.com/office/drawing/2014/main" id="{874C19EB-6501-034B-ACC5-1C9409539499}"/>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The Development Team </a:t>
            </a:r>
            <a:r>
              <a:rPr lang="en-US" i="1" dirty="0"/>
              <a:t>may</a:t>
            </a:r>
            <a:r>
              <a:rPr lang="en-US" dirty="0"/>
              <a:t> request that the Product Owner collaborate with them to add more items from the Product Backlog to the Sprint</a:t>
            </a:r>
          </a:p>
          <a:p>
            <a:pPr marL="571500" indent="-571500">
              <a:buFont typeface="Arial" panose="020B0604020202020204" pitchFamily="34" charset="0"/>
              <a:buChar char="•"/>
            </a:pPr>
            <a:r>
              <a:rPr lang="en-US" dirty="0"/>
              <a:t>They may choose to engage in other work.</a:t>
            </a:r>
          </a:p>
        </p:txBody>
      </p:sp>
    </p:spTree>
    <p:extLst>
      <p:ext uri="{BB962C8B-B14F-4D97-AF65-F5344CB8AC3E}">
        <p14:creationId xmlns:p14="http://schemas.microsoft.com/office/powerpoint/2010/main" val="3655296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0B072-4804-F24F-8BE2-BAAFC4C375B7}"/>
              </a:ext>
            </a:extLst>
          </p:cNvPr>
          <p:cNvSpPr>
            <a:spLocks noGrp="1"/>
          </p:cNvSpPr>
          <p:nvPr>
            <p:ph type="title"/>
          </p:nvPr>
        </p:nvSpPr>
        <p:spPr/>
        <p:txBody>
          <a:bodyPr/>
          <a:lstStyle/>
          <a:p>
            <a:r>
              <a:rPr lang="en-US" dirty="0"/>
              <a:t>Underestimated Sprint – Still Successful</a:t>
            </a:r>
          </a:p>
        </p:txBody>
      </p:sp>
      <p:sp>
        <p:nvSpPr>
          <p:cNvPr id="3" name="Text Placeholder 2">
            <a:extLst>
              <a:ext uri="{FF2B5EF4-FFF2-40B4-BE49-F238E27FC236}">
                <a16:creationId xmlns:a16="http://schemas.microsoft.com/office/drawing/2014/main" id="{39AD70C5-8A58-CF46-A06A-F2C645992DFC}"/>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Items can be removed from a Sprint and it will still be successful if the Sprint Goal is reached.</a:t>
            </a:r>
          </a:p>
          <a:p>
            <a:pPr marL="876292" lvl="1" indent="-571500">
              <a:buFont typeface="Arial" panose="020B0604020202020204" pitchFamily="34" charset="0"/>
              <a:buChar char="•"/>
            </a:pPr>
            <a:r>
              <a:rPr lang="en-US" dirty="0"/>
              <a:t>This is the Product Owner's decision, based on the progress of the Sprint and Development team input</a:t>
            </a:r>
          </a:p>
          <a:p>
            <a:pPr marL="571500" indent="-571500">
              <a:buFont typeface="Arial" panose="020B0604020202020204" pitchFamily="34" charset="0"/>
              <a:buChar char="•"/>
            </a:pPr>
            <a:r>
              <a:rPr lang="en-US" dirty="0"/>
              <a:t>Definition of Done cannot be changed</a:t>
            </a:r>
          </a:p>
          <a:p>
            <a:pPr marL="571500" indent="-571500">
              <a:buFont typeface="Arial" panose="020B0604020202020204" pitchFamily="34" charset="0"/>
              <a:buChar char="•"/>
            </a:pPr>
            <a:r>
              <a:rPr lang="en-US" dirty="0"/>
              <a:t>Duration of Sprint cannot be increased</a:t>
            </a:r>
          </a:p>
        </p:txBody>
      </p:sp>
    </p:spTree>
    <p:extLst>
      <p:ext uri="{BB962C8B-B14F-4D97-AF65-F5344CB8AC3E}">
        <p14:creationId xmlns:p14="http://schemas.microsoft.com/office/powerpoint/2010/main" val="37564161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C22F-DC45-0A44-87F7-6E4AF4E2D995}"/>
              </a:ext>
            </a:extLst>
          </p:cNvPr>
          <p:cNvSpPr>
            <a:spLocks noGrp="1"/>
          </p:cNvSpPr>
          <p:nvPr>
            <p:ph type="title"/>
          </p:nvPr>
        </p:nvSpPr>
        <p:spPr/>
        <p:txBody>
          <a:bodyPr/>
          <a:lstStyle/>
          <a:p>
            <a:r>
              <a:rPr lang="en-US" dirty="0"/>
              <a:t>Underestimated Sprint – failed </a:t>
            </a:r>
          </a:p>
        </p:txBody>
      </p:sp>
      <p:sp>
        <p:nvSpPr>
          <p:cNvPr id="3" name="Text Placeholder 2">
            <a:extLst>
              <a:ext uri="{FF2B5EF4-FFF2-40B4-BE49-F238E27FC236}">
                <a16:creationId xmlns:a16="http://schemas.microsoft.com/office/drawing/2014/main" id="{48EFC083-69C2-BE4C-90E8-566E6A25B5C3}"/>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Product Owner and Development team collaborate on</a:t>
            </a:r>
          </a:p>
          <a:p>
            <a:pPr marL="876292" lvl="1" indent="-571500">
              <a:buFont typeface="Arial" panose="020B0604020202020204" pitchFamily="34" charset="0"/>
              <a:buChar char="•"/>
            </a:pPr>
            <a:r>
              <a:rPr lang="en-US" dirty="0"/>
              <a:t>A modified Sprint Goal</a:t>
            </a:r>
          </a:p>
          <a:p>
            <a:pPr marL="876292" lvl="1" indent="-571500">
              <a:buFont typeface="Arial" panose="020B0604020202020204" pitchFamily="34" charset="0"/>
              <a:buChar char="•"/>
            </a:pPr>
            <a:r>
              <a:rPr lang="en-US" dirty="0"/>
              <a:t>A corresponding reduced set of backlog items</a:t>
            </a:r>
          </a:p>
          <a:p>
            <a:pPr marL="954608" lvl="2" indent="-571500">
              <a:buFont typeface="Arial" panose="020B0604020202020204" pitchFamily="34" charset="0"/>
              <a:buChar char="•"/>
            </a:pPr>
            <a:r>
              <a:rPr lang="en-US" dirty="0"/>
              <a:t>That will still meet the Definition of Done</a:t>
            </a:r>
          </a:p>
          <a:p>
            <a:pPr marL="954608" lvl="2" indent="-571500">
              <a:buFont typeface="Arial" panose="020B0604020202020204" pitchFamily="34" charset="0"/>
              <a:buChar char="•"/>
            </a:pPr>
            <a:r>
              <a:rPr lang="en-US" dirty="0"/>
              <a:t>That will still result in a production-ready, potentially releasable increment</a:t>
            </a:r>
          </a:p>
          <a:p>
            <a:pPr marL="571500" indent="-571500">
              <a:buFont typeface="Arial" panose="020B0604020202020204" pitchFamily="34" charset="0"/>
              <a:buChar char="•"/>
            </a:pPr>
            <a:r>
              <a:rPr lang="en-US" dirty="0"/>
              <a:t>This is likely in early sprints</a:t>
            </a:r>
          </a:p>
        </p:txBody>
      </p:sp>
    </p:spTree>
    <p:extLst>
      <p:ext uri="{BB962C8B-B14F-4D97-AF65-F5344CB8AC3E}">
        <p14:creationId xmlns:p14="http://schemas.microsoft.com/office/powerpoint/2010/main" val="4190174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3974A-62CE-884B-AF0A-10C613E2FCA5}"/>
              </a:ext>
            </a:extLst>
          </p:cNvPr>
          <p:cNvSpPr>
            <a:spLocks noGrp="1"/>
          </p:cNvSpPr>
          <p:nvPr>
            <p:ph type="title"/>
          </p:nvPr>
        </p:nvSpPr>
        <p:spPr/>
        <p:txBody>
          <a:bodyPr/>
          <a:lstStyle/>
          <a:p>
            <a:r>
              <a:rPr lang="en-US" dirty="0"/>
              <a:t>Cancelled Sprint</a:t>
            </a:r>
          </a:p>
        </p:txBody>
      </p:sp>
      <p:sp>
        <p:nvSpPr>
          <p:cNvPr id="3" name="Text Placeholder 2">
            <a:extLst>
              <a:ext uri="{FF2B5EF4-FFF2-40B4-BE49-F238E27FC236}">
                <a16:creationId xmlns:a16="http://schemas.microsoft.com/office/drawing/2014/main" id="{B3405DDE-DED2-6D4A-ADB7-F01F84AF76CA}"/>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Rarely, sprints are cancelled</a:t>
            </a:r>
          </a:p>
          <a:p>
            <a:pPr marL="876292" lvl="1" indent="-571500">
              <a:buFont typeface="Arial" panose="020B0604020202020204" pitchFamily="34" charset="0"/>
              <a:buChar char="•"/>
            </a:pPr>
            <a:r>
              <a:rPr lang="en-US" dirty="0"/>
              <a:t>Product Owner's call</a:t>
            </a:r>
          </a:p>
          <a:p>
            <a:pPr marL="876292" lvl="1" indent="-571500">
              <a:buFont typeface="Arial" panose="020B0604020202020204" pitchFamily="34" charset="0"/>
              <a:buChar char="•"/>
            </a:pPr>
            <a:r>
              <a:rPr lang="en-US" dirty="0"/>
              <a:t>Mostly when the Sprint Goal becomes irrelevant</a:t>
            </a:r>
          </a:p>
          <a:p>
            <a:pPr marL="954608" lvl="2" indent="-571500">
              <a:buFont typeface="Arial" panose="020B0604020202020204" pitchFamily="34" charset="0"/>
              <a:buChar char="•"/>
            </a:pPr>
            <a:r>
              <a:rPr lang="en-US" dirty="0"/>
              <a:t>Would need to get there from highest priority in less than a month</a:t>
            </a:r>
          </a:p>
          <a:p>
            <a:pPr marL="876292" lvl="1" indent="-571500">
              <a:buFont typeface="Arial" panose="020B0604020202020204" pitchFamily="34" charset="0"/>
              <a:buChar char="•"/>
            </a:pPr>
            <a:r>
              <a:rPr lang="en-US" dirty="0"/>
              <a:t>Done work is reviewed for relevance and possibly accepted into an increment</a:t>
            </a:r>
          </a:p>
          <a:p>
            <a:pPr marL="876292" lvl="1" indent="-571500">
              <a:buFont typeface="Arial" panose="020B0604020202020204" pitchFamily="34" charset="0"/>
              <a:buChar char="•"/>
            </a:pPr>
            <a:r>
              <a:rPr lang="en-US" dirty="0"/>
              <a:t>Incomplete but relevant work is placed back on the Product Backlog</a:t>
            </a:r>
          </a:p>
        </p:txBody>
      </p:sp>
    </p:spTree>
    <p:extLst>
      <p:ext uri="{BB962C8B-B14F-4D97-AF65-F5344CB8AC3E}">
        <p14:creationId xmlns:p14="http://schemas.microsoft.com/office/powerpoint/2010/main" val="17985461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850BBB-8610-914D-9AB8-B05A698FF4AE}"/>
              </a:ext>
            </a:extLst>
          </p:cNvPr>
          <p:cNvSpPr>
            <a:spLocks noGrp="1"/>
          </p:cNvSpPr>
          <p:nvPr>
            <p:ph type="body" sz="quarter" idx="14"/>
          </p:nvPr>
        </p:nvSpPr>
        <p:spPr/>
        <p:txBody>
          <a:bodyPr/>
          <a:lstStyle/>
          <a:p>
            <a:r>
              <a:rPr lang="en-US" dirty="0"/>
              <a:t>Sprint Review</a:t>
            </a:r>
          </a:p>
        </p:txBody>
      </p:sp>
    </p:spTree>
    <p:extLst>
      <p:ext uri="{BB962C8B-B14F-4D97-AF65-F5344CB8AC3E}">
        <p14:creationId xmlns:p14="http://schemas.microsoft.com/office/powerpoint/2010/main" val="24310830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96C5-E484-B34F-BAB9-0C20955BC3C5}"/>
              </a:ext>
            </a:extLst>
          </p:cNvPr>
          <p:cNvSpPr>
            <a:spLocks noGrp="1"/>
          </p:cNvSpPr>
          <p:nvPr>
            <p:ph type="title"/>
          </p:nvPr>
        </p:nvSpPr>
        <p:spPr/>
        <p:txBody>
          <a:bodyPr/>
          <a:lstStyle/>
          <a:p>
            <a:r>
              <a:rPr lang="en-US" dirty="0"/>
              <a:t>Sprint Review</a:t>
            </a:r>
          </a:p>
        </p:txBody>
      </p:sp>
      <p:sp>
        <p:nvSpPr>
          <p:cNvPr id="3" name="Text Placeholder 2">
            <a:extLst>
              <a:ext uri="{FF2B5EF4-FFF2-40B4-BE49-F238E27FC236}">
                <a16:creationId xmlns:a16="http://schemas.microsoft.com/office/drawing/2014/main" id="{805D4BB5-2571-634E-8173-C55C3ACE3BCA}"/>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Attended by entire Scrum team and key stakeholders</a:t>
            </a:r>
          </a:p>
          <a:p>
            <a:pPr marL="571500" indent="-571500">
              <a:buFont typeface="Arial" panose="020B0604020202020204" pitchFamily="34" charset="0"/>
              <a:buChar char="•"/>
            </a:pPr>
            <a:r>
              <a:rPr lang="en-US" dirty="0"/>
              <a:t>Intended to share the results of the sprint with stakeholders and to get feedback from stakeholders on the business and product</a:t>
            </a:r>
          </a:p>
          <a:p>
            <a:pPr marL="571500" indent="-571500">
              <a:buFont typeface="Arial" panose="020B0604020202020204" pitchFamily="34" charset="0"/>
              <a:buChar char="•"/>
            </a:pPr>
            <a:r>
              <a:rPr lang="en-US" dirty="0"/>
              <a:t>Results in a revised Product Backlog</a:t>
            </a:r>
          </a:p>
        </p:txBody>
      </p:sp>
    </p:spTree>
    <p:extLst>
      <p:ext uri="{BB962C8B-B14F-4D97-AF65-F5344CB8AC3E}">
        <p14:creationId xmlns:p14="http://schemas.microsoft.com/office/powerpoint/2010/main" val="2237857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A0C94-9436-8244-AFC9-95D9D4BF4664}"/>
              </a:ext>
            </a:extLst>
          </p:cNvPr>
          <p:cNvSpPr>
            <a:spLocks noGrp="1"/>
          </p:cNvSpPr>
          <p:nvPr>
            <p:ph type="title"/>
          </p:nvPr>
        </p:nvSpPr>
        <p:spPr/>
        <p:txBody>
          <a:bodyPr/>
          <a:lstStyle/>
          <a:p>
            <a:r>
              <a:rPr lang="en-US" dirty="0"/>
              <a:t>Sprint Review Activities</a:t>
            </a:r>
          </a:p>
        </p:txBody>
      </p:sp>
      <p:sp>
        <p:nvSpPr>
          <p:cNvPr id="3" name="Text Placeholder 2">
            <a:extLst>
              <a:ext uri="{FF2B5EF4-FFF2-40B4-BE49-F238E27FC236}">
                <a16:creationId xmlns:a16="http://schemas.microsoft.com/office/drawing/2014/main" id="{4919445F-173E-C94A-8B7B-1A2EBE447354}"/>
              </a:ext>
            </a:extLst>
          </p:cNvPr>
          <p:cNvSpPr>
            <a:spLocks noGrp="1"/>
          </p:cNvSpPr>
          <p:nvPr>
            <p:ph type="body" sz="quarter" idx="13"/>
          </p:nvPr>
        </p:nvSpPr>
        <p:spPr/>
        <p:txBody>
          <a:bodyPr>
            <a:normAutofit/>
          </a:bodyPr>
          <a:lstStyle/>
          <a:p>
            <a:pPr marL="457200" indent="-457200">
              <a:buFont typeface="Arial" panose="020B0604020202020204" pitchFamily="34" charset="0"/>
              <a:buChar char="•"/>
            </a:pPr>
            <a:r>
              <a:rPr lang="en-US" sz="3600" dirty="0"/>
              <a:t>Results of the sprint are presented to the stakeholders</a:t>
            </a:r>
          </a:p>
          <a:p>
            <a:pPr marL="761992" lvl="1" indent="-457200">
              <a:buFont typeface="Arial" panose="020B0604020202020204" pitchFamily="34" charset="0"/>
              <a:buChar char="•"/>
            </a:pPr>
            <a:r>
              <a:rPr lang="en-US" sz="2800" dirty="0"/>
              <a:t>What is Done (and not Done) with respect to the Goal</a:t>
            </a:r>
          </a:p>
          <a:p>
            <a:pPr marL="761992" lvl="1" indent="-457200">
              <a:buFont typeface="Arial" panose="020B0604020202020204" pitchFamily="34" charset="0"/>
              <a:buChar char="•"/>
            </a:pPr>
            <a:r>
              <a:rPr lang="en-US" sz="2800" dirty="0"/>
              <a:t>What went well during the sprint and what had to be overcome</a:t>
            </a:r>
          </a:p>
          <a:p>
            <a:pPr marL="761992" lvl="1" indent="-457200">
              <a:buFont typeface="Arial" panose="020B0604020202020204" pitchFamily="34" charset="0"/>
              <a:buChar char="•"/>
            </a:pPr>
            <a:r>
              <a:rPr lang="en-US" sz="2800" dirty="0"/>
              <a:t>The updated increment with Done items is demonstrated by the development team and stakeholder questions are answered</a:t>
            </a:r>
          </a:p>
        </p:txBody>
      </p:sp>
    </p:spTree>
    <p:extLst>
      <p:ext uri="{BB962C8B-B14F-4D97-AF65-F5344CB8AC3E}">
        <p14:creationId xmlns:p14="http://schemas.microsoft.com/office/powerpoint/2010/main" val="7650418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C6880-702D-4E48-A14A-8F6566AC5309}"/>
              </a:ext>
            </a:extLst>
          </p:cNvPr>
          <p:cNvSpPr>
            <a:spLocks noGrp="1"/>
          </p:cNvSpPr>
          <p:nvPr>
            <p:ph type="title"/>
          </p:nvPr>
        </p:nvSpPr>
        <p:spPr/>
        <p:txBody>
          <a:bodyPr/>
          <a:lstStyle/>
          <a:p>
            <a:r>
              <a:rPr lang="en-US" dirty="0"/>
              <a:t>Sprint Review Activities</a:t>
            </a:r>
          </a:p>
        </p:txBody>
      </p:sp>
      <p:sp>
        <p:nvSpPr>
          <p:cNvPr id="3" name="Text Placeholder 2">
            <a:extLst>
              <a:ext uri="{FF2B5EF4-FFF2-40B4-BE49-F238E27FC236}">
                <a16:creationId xmlns:a16="http://schemas.microsoft.com/office/drawing/2014/main" id="{2D6CD984-FA07-3E4D-9F81-31505614049F}"/>
              </a:ext>
            </a:extLst>
          </p:cNvPr>
          <p:cNvSpPr>
            <a:spLocks noGrp="1"/>
          </p:cNvSpPr>
          <p:nvPr>
            <p:ph type="body" sz="quarter" idx="13"/>
          </p:nvPr>
        </p:nvSpPr>
        <p:spPr/>
        <p:txBody>
          <a:bodyPr>
            <a:normAutofit/>
          </a:bodyPr>
          <a:lstStyle/>
          <a:p>
            <a:pPr marL="571500" indent="-571500">
              <a:buFont typeface="Arial" panose="020B0604020202020204" pitchFamily="34" charset="0"/>
              <a:buChar char="•"/>
            </a:pPr>
            <a:r>
              <a:rPr lang="en-US" sz="3600" dirty="0"/>
              <a:t>Product Backlog is collaborated on</a:t>
            </a:r>
          </a:p>
          <a:p>
            <a:pPr marL="876292" lvl="1" indent="-571500">
              <a:buFont typeface="Arial" panose="020B0604020202020204" pitchFamily="34" charset="0"/>
              <a:buChar char="•"/>
            </a:pPr>
            <a:r>
              <a:rPr lang="en-US" sz="3067" dirty="0"/>
              <a:t>Product Owner leads this discussion</a:t>
            </a:r>
          </a:p>
          <a:p>
            <a:pPr marL="876292" lvl="1" indent="-571500">
              <a:buFont typeface="Arial" panose="020B0604020202020204" pitchFamily="34" charset="0"/>
              <a:buChar char="•"/>
            </a:pPr>
            <a:r>
              <a:rPr lang="en-US" sz="3067" dirty="0"/>
              <a:t>Entire group is involved</a:t>
            </a:r>
          </a:p>
          <a:p>
            <a:pPr marL="876292" lvl="1" indent="-571500">
              <a:buFont typeface="Arial" panose="020B0604020202020204" pitchFamily="34" charset="0"/>
              <a:buChar char="•"/>
            </a:pPr>
            <a:r>
              <a:rPr lang="en-US" sz="3067" dirty="0"/>
              <a:t>Stakeholders provide marketplace or business goal updates impacting value</a:t>
            </a:r>
          </a:p>
          <a:p>
            <a:pPr marL="876292" lvl="1" indent="-571500">
              <a:buFont typeface="Arial" panose="020B0604020202020204" pitchFamily="34" charset="0"/>
              <a:buChar char="•"/>
            </a:pPr>
            <a:r>
              <a:rPr lang="en-US" sz="3067" dirty="0"/>
              <a:t>Timelines, budgets, current velocity and anticipated release are discussed</a:t>
            </a:r>
          </a:p>
          <a:p>
            <a:pPr marL="876292" lvl="1" indent="-571500">
              <a:buFont typeface="Arial" panose="020B0604020202020204" pitchFamily="34" charset="0"/>
              <a:buChar char="•"/>
            </a:pPr>
            <a:r>
              <a:rPr lang="en-US" sz="3067" dirty="0"/>
              <a:t>The contents and prioritization of the Product Backlog is updated</a:t>
            </a:r>
          </a:p>
        </p:txBody>
      </p:sp>
    </p:spTree>
    <p:extLst>
      <p:ext uri="{BB962C8B-B14F-4D97-AF65-F5344CB8AC3E}">
        <p14:creationId xmlns:p14="http://schemas.microsoft.com/office/powerpoint/2010/main" val="21354532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8C610E-9166-F547-B1C6-6FB78128E7D2}"/>
              </a:ext>
            </a:extLst>
          </p:cNvPr>
          <p:cNvSpPr>
            <a:spLocks noGrp="1"/>
          </p:cNvSpPr>
          <p:nvPr>
            <p:ph type="body" sz="quarter" idx="14"/>
          </p:nvPr>
        </p:nvSpPr>
        <p:spPr/>
        <p:txBody>
          <a:bodyPr/>
          <a:lstStyle/>
          <a:p>
            <a:r>
              <a:rPr lang="en-US" dirty="0"/>
              <a:t>Sprint Retrospective</a:t>
            </a:r>
          </a:p>
        </p:txBody>
      </p:sp>
    </p:spTree>
    <p:extLst>
      <p:ext uri="{BB962C8B-B14F-4D97-AF65-F5344CB8AC3E}">
        <p14:creationId xmlns:p14="http://schemas.microsoft.com/office/powerpoint/2010/main" val="18412328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4953-0C04-C94C-BEB7-B2ECA9BA03C2}"/>
              </a:ext>
            </a:extLst>
          </p:cNvPr>
          <p:cNvSpPr>
            <a:spLocks noGrp="1"/>
          </p:cNvSpPr>
          <p:nvPr>
            <p:ph type="title"/>
          </p:nvPr>
        </p:nvSpPr>
        <p:spPr/>
        <p:txBody>
          <a:bodyPr/>
          <a:lstStyle/>
          <a:p>
            <a:r>
              <a:rPr lang="en-US" dirty="0"/>
              <a:t>Sprint Retrospective</a:t>
            </a:r>
          </a:p>
        </p:txBody>
      </p:sp>
      <p:sp>
        <p:nvSpPr>
          <p:cNvPr id="3" name="Text Placeholder 2">
            <a:extLst>
              <a:ext uri="{FF2B5EF4-FFF2-40B4-BE49-F238E27FC236}">
                <a16:creationId xmlns:a16="http://schemas.microsoft.com/office/drawing/2014/main" id="{5FFE47D1-F3EA-F941-A54D-AABDDE153282}"/>
              </a:ext>
            </a:extLst>
          </p:cNvPr>
          <p:cNvSpPr>
            <a:spLocks noGrp="1"/>
          </p:cNvSpPr>
          <p:nvPr>
            <p:ph type="body" sz="quarter" idx="13"/>
          </p:nvPr>
        </p:nvSpPr>
        <p:spPr/>
        <p:txBody>
          <a:bodyPr>
            <a:normAutofit/>
          </a:bodyPr>
          <a:lstStyle/>
          <a:p>
            <a:pPr marL="571500" indent="-571500">
              <a:buFont typeface="Arial" panose="020B0604020202020204" pitchFamily="34" charset="0"/>
              <a:buChar char="•"/>
            </a:pPr>
            <a:r>
              <a:rPr lang="en-US" sz="3600" dirty="0"/>
              <a:t>A time-boxed three-hour (for a one-month sprint) meeting</a:t>
            </a:r>
          </a:p>
          <a:p>
            <a:pPr marL="876292" lvl="1" indent="-571500">
              <a:buFont typeface="Arial" panose="020B0604020202020204" pitchFamily="34" charset="0"/>
              <a:buChar char="•"/>
            </a:pPr>
            <a:r>
              <a:rPr lang="en-US" sz="3067" dirty="0"/>
              <a:t>Attended by the entire Scrum team</a:t>
            </a:r>
          </a:p>
          <a:p>
            <a:pPr marL="876292" lvl="1" indent="-571500">
              <a:buFont typeface="Arial" panose="020B0604020202020204" pitchFamily="34" charset="0"/>
              <a:buChar char="•"/>
            </a:pPr>
            <a:r>
              <a:rPr lang="en-US" sz="3067" dirty="0"/>
              <a:t>Intended to improve the working of the Scrum team</a:t>
            </a:r>
          </a:p>
          <a:p>
            <a:pPr marL="876292" lvl="1" indent="-571500">
              <a:buFont typeface="Arial" panose="020B0604020202020204" pitchFamily="34" charset="0"/>
              <a:buChar char="•"/>
            </a:pPr>
            <a:r>
              <a:rPr lang="en-US" sz="3067" dirty="0"/>
              <a:t>Is the period of the Sprint that most requires adherence to the Scrum Values</a:t>
            </a:r>
          </a:p>
          <a:p>
            <a:pPr marL="876292" lvl="1" indent="-571500">
              <a:buFont typeface="Arial" panose="020B0604020202020204" pitchFamily="34" charset="0"/>
              <a:buChar char="•"/>
            </a:pPr>
            <a:r>
              <a:rPr lang="en-US" sz="3067" dirty="0"/>
              <a:t>Focuses forward on improvement</a:t>
            </a:r>
          </a:p>
        </p:txBody>
      </p:sp>
    </p:spTree>
    <p:extLst>
      <p:ext uri="{BB962C8B-B14F-4D97-AF65-F5344CB8AC3E}">
        <p14:creationId xmlns:p14="http://schemas.microsoft.com/office/powerpoint/2010/main" val="123148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55D41-DA76-9B49-BA99-42A1C5E16FC7}"/>
              </a:ext>
            </a:extLst>
          </p:cNvPr>
          <p:cNvSpPr>
            <a:spLocks noGrp="1"/>
          </p:cNvSpPr>
          <p:nvPr>
            <p:ph type="title"/>
          </p:nvPr>
        </p:nvSpPr>
        <p:spPr/>
        <p:txBody>
          <a:bodyPr/>
          <a:lstStyle/>
          <a:p>
            <a:r>
              <a:rPr lang="en-US" dirty="0"/>
              <a:t>Activities of the Sprint Retrospective</a:t>
            </a:r>
          </a:p>
        </p:txBody>
      </p:sp>
      <p:sp>
        <p:nvSpPr>
          <p:cNvPr id="3" name="Text Placeholder 2">
            <a:extLst>
              <a:ext uri="{FF2B5EF4-FFF2-40B4-BE49-F238E27FC236}">
                <a16:creationId xmlns:a16="http://schemas.microsoft.com/office/drawing/2014/main" id="{C4F30466-8ED9-844B-8677-1E905BDD7EB1}"/>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Inspect the previous sprint</a:t>
            </a:r>
          </a:p>
          <a:p>
            <a:pPr marL="876292" lvl="1" indent="-571500">
              <a:buFont typeface="Arial" panose="020B0604020202020204" pitchFamily="34" charset="0"/>
              <a:buChar char="•"/>
            </a:pPr>
            <a:r>
              <a:rPr lang="en-US" dirty="0"/>
              <a:t>Processes</a:t>
            </a:r>
          </a:p>
          <a:p>
            <a:pPr marL="876292" lvl="1" indent="-571500">
              <a:buFont typeface="Arial" panose="020B0604020202020204" pitchFamily="34" charset="0"/>
              <a:buChar char="•"/>
            </a:pPr>
            <a:r>
              <a:rPr lang="en-US" dirty="0"/>
              <a:t>Tools</a:t>
            </a:r>
          </a:p>
          <a:p>
            <a:pPr marL="876292" lvl="1" indent="-571500">
              <a:buFont typeface="Arial" panose="020B0604020202020204" pitchFamily="34" charset="0"/>
              <a:buChar char="•"/>
            </a:pPr>
            <a:r>
              <a:rPr lang="en-US" dirty="0"/>
              <a:t>People..</a:t>
            </a:r>
          </a:p>
          <a:p>
            <a:pPr marL="876292" lvl="1" indent="-571500">
              <a:buFont typeface="Arial" panose="020B0604020202020204" pitchFamily="34" charset="0"/>
              <a:buChar char="•"/>
            </a:pPr>
            <a:r>
              <a:rPr lang="en-US" dirty="0"/>
              <a:t>Relationships...</a:t>
            </a:r>
          </a:p>
          <a:p>
            <a:pPr marL="571500" indent="-571500">
              <a:buFont typeface="Arial" panose="020B0604020202020204" pitchFamily="34" charset="0"/>
              <a:buChar char="•"/>
            </a:pPr>
            <a:r>
              <a:rPr lang="en-US" dirty="0"/>
              <a:t>This can be a hard meeting</a:t>
            </a:r>
          </a:p>
          <a:p>
            <a:pPr marL="571500" indent="-571500">
              <a:buFont typeface="Arial" panose="020B0604020202020204" pitchFamily="34" charset="0"/>
              <a:buChar char="•"/>
            </a:pPr>
            <a:r>
              <a:rPr lang="en-US" dirty="0"/>
              <a:t>This is an essential meeting</a:t>
            </a:r>
          </a:p>
        </p:txBody>
      </p:sp>
    </p:spTree>
    <p:extLst>
      <p:ext uri="{BB962C8B-B14F-4D97-AF65-F5344CB8AC3E}">
        <p14:creationId xmlns:p14="http://schemas.microsoft.com/office/powerpoint/2010/main" val="21094542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8D051-8B20-8443-AC00-9BB725081B69}"/>
              </a:ext>
            </a:extLst>
          </p:cNvPr>
          <p:cNvSpPr>
            <a:spLocks noGrp="1"/>
          </p:cNvSpPr>
          <p:nvPr>
            <p:ph type="title"/>
          </p:nvPr>
        </p:nvSpPr>
        <p:spPr/>
        <p:txBody>
          <a:bodyPr/>
          <a:lstStyle/>
          <a:p>
            <a:r>
              <a:rPr lang="en-US" dirty="0"/>
              <a:t>Activities of the Sprint Retrospective</a:t>
            </a:r>
          </a:p>
        </p:txBody>
      </p:sp>
      <p:sp>
        <p:nvSpPr>
          <p:cNvPr id="3" name="Text Placeholder 2">
            <a:extLst>
              <a:ext uri="{FF2B5EF4-FFF2-40B4-BE49-F238E27FC236}">
                <a16:creationId xmlns:a16="http://schemas.microsoft.com/office/drawing/2014/main" id="{DB3C737A-B81E-A943-A142-F4F56BD9AD9D}"/>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Identify and order major items</a:t>
            </a:r>
          </a:p>
          <a:p>
            <a:pPr marL="876292" lvl="1" indent="-571500">
              <a:buFont typeface="Arial" panose="020B0604020202020204" pitchFamily="34" charset="0"/>
              <a:buChar char="•"/>
            </a:pPr>
            <a:r>
              <a:rPr lang="en-US" dirty="0"/>
              <a:t>That went well</a:t>
            </a:r>
          </a:p>
          <a:p>
            <a:pPr marL="876292" lvl="1" indent="-571500">
              <a:buFont typeface="Arial" panose="020B0604020202020204" pitchFamily="34" charset="0"/>
              <a:buChar char="•"/>
            </a:pPr>
            <a:r>
              <a:rPr lang="en-US" dirty="0"/>
              <a:t>That need improvement</a:t>
            </a:r>
          </a:p>
          <a:p>
            <a:pPr marL="571500" indent="-571500">
              <a:buFont typeface="Arial" panose="020B0604020202020204" pitchFamily="34" charset="0"/>
              <a:buChar char="•"/>
            </a:pPr>
            <a:r>
              <a:rPr lang="en-US" dirty="0"/>
              <a:t>Create a plan to reinforce what worked well and correct (or at least mitigate) what did not.</a:t>
            </a:r>
          </a:p>
          <a:p>
            <a:pPr marL="571500" indent="-571500">
              <a:buFont typeface="Arial" panose="020B0604020202020204" pitchFamily="34" charset="0"/>
              <a:buChar char="•"/>
            </a:pPr>
            <a:r>
              <a:rPr lang="en-US" dirty="0"/>
              <a:t>Do not neglect to address what went well or not so well </a:t>
            </a:r>
            <a:r>
              <a:rPr lang="en-US" i="1" dirty="0"/>
              <a:t>in this meeting</a:t>
            </a:r>
            <a:endParaRPr lang="en-US" dirty="0"/>
          </a:p>
        </p:txBody>
      </p:sp>
    </p:spTree>
    <p:extLst>
      <p:ext uri="{BB962C8B-B14F-4D97-AF65-F5344CB8AC3E}">
        <p14:creationId xmlns:p14="http://schemas.microsoft.com/office/powerpoint/2010/main" val="25954904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D85375-945F-054B-B0C1-4DA5F408376F}"/>
              </a:ext>
            </a:extLst>
          </p:cNvPr>
          <p:cNvSpPr>
            <a:spLocks noGrp="1"/>
          </p:cNvSpPr>
          <p:nvPr>
            <p:ph type="body" sz="quarter" idx="14"/>
          </p:nvPr>
        </p:nvSpPr>
        <p:spPr/>
        <p:txBody>
          <a:bodyPr/>
          <a:lstStyle/>
          <a:p>
            <a:r>
              <a:rPr lang="en-US" dirty="0"/>
              <a:t>Artifacts and the Product Owner</a:t>
            </a:r>
          </a:p>
        </p:txBody>
      </p:sp>
    </p:spTree>
    <p:extLst>
      <p:ext uri="{BB962C8B-B14F-4D97-AF65-F5344CB8AC3E}">
        <p14:creationId xmlns:p14="http://schemas.microsoft.com/office/powerpoint/2010/main" val="25447574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6FD7-DD83-AB4D-A7FE-8D57271D06A1}"/>
              </a:ext>
            </a:extLst>
          </p:cNvPr>
          <p:cNvSpPr>
            <a:spLocks noGrp="1"/>
          </p:cNvSpPr>
          <p:nvPr>
            <p:ph type="title"/>
          </p:nvPr>
        </p:nvSpPr>
        <p:spPr/>
        <p:txBody>
          <a:bodyPr/>
          <a:lstStyle/>
          <a:p>
            <a:r>
              <a:rPr lang="en-US" dirty="0"/>
              <a:t>Artifacts</a:t>
            </a:r>
          </a:p>
        </p:txBody>
      </p:sp>
      <p:sp>
        <p:nvSpPr>
          <p:cNvPr id="3" name="Text Placeholder 2">
            <a:extLst>
              <a:ext uri="{FF2B5EF4-FFF2-40B4-BE49-F238E27FC236}">
                <a16:creationId xmlns:a16="http://schemas.microsoft.com/office/drawing/2014/main" id="{6DBD47DA-FA8F-8A4B-9634-1E7C7020F14B}"/>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Product Backlog</a:t>
            </a:r>
          </a:p>
          <a:p>
            <a:pPr marL="876292" lvl="1" indent="-571500">
              <a:buFont typeface="Arial" panose="020B0604020202020204" pitchFamily="34" charset="0"/>
              <a:buChar char="•"/>
            </a:pPr>
            <a:r>
              <a:rPr lang="en-US" dirty="0"/>
              <a:t>Product Owner owns this entirely</a:t>
            </a:r>
          </a:p>
          <a:p>
            <a:pPr marL="571500" indent="-571500">
              <a:buFont typeface="Arial" panose="020B0604020202020204" pitchFamily="34" charset="0"/>
              <a:buChar char="•"/>
            </a:pPr>
            <a:r>
              <a:rPr lang="en-US" dirty="0"/>
              <a:t>Sprint Backlog</a:t>
            </a:r>
          </a:p>
          <a:p>
            <a:pPr marL="876292" lvl="1" indent="-571500">
              <a:buFont typeface="Arial" panose="020B0604020202020204" pitchFamily="34" charset="0"/>
              <a:buChar char="•"/>
            </a:pPr>
            <a:r>
              <a:rPr lang="en-US" dirty="0"/>
              <a:t>Development Team owns this</a:t>
            </a:r>
          </a:p>
          <a:p>
            <a:pPr marL="876292" lvl="1" indent="-571500">
              <a:buFont typeface="Arial" panose="020B0604020202020204" pitchFamily="34" charset="0"/>
              <a:buChar char="•"/>
            </a:pPr>
            <a:r>
              <a:rPr lang="en-US" dirty="0"/>
              <a:t>Product Owner consults on it</a:t>
            </a:r>
          </a:p>
          <a:p>
            <a:pPr marL="571500" indent="-571500">
              <a:buFont typeface="Arial" panose="020B0604020202020204" pitchFamily="34" charset="0"/>
              <a:buChar char="•"/>
            </a:pPr>
            <a:r>
              <a:rPr lang="en-US" dirty="0"/>
              <a:t>Sprint Goal</a:t>
            </a:r>
          </a:p>
          <a:p>
            <a:pPr marL="876292" lvl="1" indent="-571500">
              <a:buFont typeface="Arial" panose="020B0604020202020204" pitchFamily="34" charset="0"/>
              <a:buChar char="•"/>
            </a:pPr>
            <a:r>
              <a:rPr lang="en-US" dirty="0"/>
              <a:t>Development Team and Product Owner jointly own this</a:t>
            </a:r>
          </a:p>
        </p:txBody>
      </p:sp>
    </p:spTree>
    <p:extLst>
      <p:ext uri="{BB962C8B-B14F-4D97-AF65-F5344CB8AC3E}">
        <p14:creationId xmlns:p14="http://schemas.microsoft.com/office/powerpoint/2010/main" val="30688283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C3BC7-DF97-AB4B-A36E-57E73E716DA4}"/>
              </a:ext>
            </a:extLst>
          </p:cNvPr>
          <p:cNvSpPr>
            <a:spLocks noGrp="1"/>
          </p:cNvSpPr>
          <p:nvPr>
            <p:ph type="title"/>
          </p:nvPr>
        </p:nvSpPr>
        <p:spPr/>
        <p:txBody>
          <a:bodyPr/>
          <a:lstStyle/>
          <a:p>
            <a:r>
              <a:rPr lang="en-US" dirty="0"/>
              <a:t>Artifacts, cont.</a:t>
            </a:r>
          </a:p>
        </p:txBody>
      </p:sp>
      <p:sp>
        <p:nvSpPr>
          <p:cNvPr id="3" name="Text Placeholder 2">
            <a:extLst>
              <a:ext uri="{FF2B5EF4-FFF2-40B4-BE49-F238E27FC236}">
                <a16:creationId xmlns:a16="http://schemas.microsoft.com/office/drawing/2014/main" id="{25625739-FE67-0345-BE82-682653ACEA1C}"/>
              </a:ext>
            </a:extLst>
          </p:cNvPr>
          <p:cNvSpPr>
            <a:spLocks noGrp="1"/>
          </p:cNvSpPr>
          <p:nvPr>
            <p:ph type="body" sz="quarter" idx="13"/>
          </p:nvPr>
        </p:nvSpPr>
        <p:spPr/>
        <p:txBody>
          <a:bodyPr/>
          <a:lstStyle/>
          <a:p>
            <a:pPr marL="571500" indent="-571500">
              <a:buFont typeface="Arial" panose="020B0604020202020204" pitchFamily="34" charset="0"/>
              <a:buChar char="•"/>
            </a:pPr>
            <a:r>
              <a:rPr lang="en-US" dirty="0"/>
              <a:t>Definition of Done</a:t>
            </a:r>
          </a:p>
          <a:p>
            <a:pPr marL="876292" lvl="1" indent="-571500">
              <a:buFont typeface="Arial" panose="020B0604020202020204" pitchFamily="34" charset="0"/>
              <a:buChar char="•"/>
            </a:pPr>
            <a:r>
              <a:rPr lang="en-US" dirty="0"/>
              <a:t>May be organizational</a:t>
            </a:r>
          </a:p>
          <a:p>
            <a:pPr marL="876292" lvl="1" indent="-571500">
              <a:buFont typeface="Arial" panose="020B0604020202020204" pitchFamily="34" charset="0"/>
              <a:buChar char="•"/>
            </a:pPr>
            <a:r>
              <a:rPr lang="en-US" dirty="0"/>
              <a:t>Otherwise, defined by Development Team and approved by Product Owner</a:t>
            </a:r>
          </a:p>
          <a:p>
            <a:pPr marL="571500" indent="-571500">
              <a:buFont typeface="Arial" panose="020B0604020202020204" pitchFamily="34" charset="0"/>
              <a:buChar char="•"/>
            </a:pPr>
            <a:r>
              <a:rPr lang="en-US" dirty="0"/>
              <a:t>Increment</a:t>
            </a:r>
          </a:p>
          <a:p>
            <a:pPr marL="876292" lvl="1" indent="-571500">
              <a:buFont typeface="Arial" panose="020B0604020202020204" pitchFamily="34" charset="0"/>
              <a:buChar char="•"/>
            </a:pPr>
            <a:r>
              <a:rPr lang="en-US" dirty="0"/>
              <a:t>Developed by development team</a:t>
            </a:r>
          </a:p>
          <a:p>
            <a:pPr marL="876292" lvl="1" indent="-571500">
              <a:buFont typeface="Arial" panose="020B0604020202020204" pitchFamily="34" charset="0"/>
              <a:buChar char="•"/>
            </a:pPr>
            <a:r>
              <a:rPr lang="en-US" dirty="0"/>
              <a:t>Accepted by Product Owner based on compliance with Definition of Done</a:t>
            </a:r>
          </a:p>
        </p:txBody>
      </p:sp>
    </p:spTree>
    <p:extLst>
      <p:ext uri="{BB962C8B-B14F-4D97-AF65-F5344CB8AC3E}">
        <p14:creationId xmlns:p14="http://schemas.microsoft.com/office/powerpoint/2010/main" val="11365290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DF7EDF-A05B-2A48-A48D-EEE7923B34AD}"/>
              </a:ext>
            </a:extLst>
          </p:cNvPr>
          <p:cNvSpPr>
            <a:spLocks noGrp="1"/>
          </p:cNvSpPr>
          <p:nvPr>
            <p:ph type="body" sz="quarter" idx="14"/>
          </p:nvPr>
        </p:nvSpPr>
        <p:spPr/>
        <p:txBody>
          <a:bodyPr/>
          <a:lstStyle/>
          <a:p>
            <a:r>
              <a:rPr lang="en-US" dirty="0"/>
              <a:t>Situations</a:t>
            </a:r>
          </a:p>
        </p:txBody>
      </p:sp>
    </p:spTree>
    <p:extLst>
      <p:ext uri="{BB962C8B-B14F-4D97-AF65-F5344CB8AC3E}">
        <p14:creationId xmlns:p14="http://schemas.microsoft.com/office/powerpoint/2010/main" val="2773949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5B55-0E63-8141-B595-6CBA84FBAE10}"/>
              </a:ext>
            </a:extLst>
          </p:cNvPr>
          <p:cNvSpPr>
            <a:spLocks noGrp="1"/>
          </p:cNvSpPr>
          <p:nvPr>
            <p:ph type="title"/>
          </p:nvPr>
        </p:nvSpPr>
        <p:spPr/>
        <p:txBody>
          <a:bodyPr/>
          <a:lstStyle/>
          <a:p>
            <a:r>
              <a:rPr lang="en-US" dirty="0"/>
              <a:t>Enthusiastic Development Team</a:t>
            </a:r>
          </a:p>
        </p:txBody>
      </p:sp>
      <p:sp>
        <p:nvSpPr>
          <p:cNvPr id="3" name="Text Placeholder 2">
            <a:extLst>
              <a:ext uri="{FF2B5EF4-FFF2-40B4-BE49-F238E27FC236}">
                <a16:creationId xmlns:a16="http://schemas.microsoft.com/office/drawing/2014/main" id="{E94E134C-F4FC-E944-A384-874D6B437579}"/>
              </a:ext>
            </a:extLst>
          </p:cNvPr>
          <p:cNvSpPr>
            <a:spLocks noGrp="1"/>
          </p:cNvSpPr>
          <p:nvPr>
            <p:ph type="body" sz="quarter" idx="13"/>
          </p:nvPr>
        </p:nvSpPr>
        <p:spPr/>
        <p:txBody>
          <a:bodyPr/>
          <a:lstStyle/>
          <a:p>
            <a:r>
              <a:rPr lang="en-US" dirty="0"/>
              <a:t>The team has just completed a very successful Sprint Review and is proud of the increment they've produced. The Development Team is highly motivated to work on related material that the Review did not prioritize and asks you to reprioritize the Product Backlog so they can they can finish up the features they'd just done so well on.</a:t>
            </a:r>
          </a:p>
          <a:p>
            <a:r>
              <a:rPr lang="en-US" dirty="0"/>
              <a:t>How do you respond?</a:t>
            </a:r>
          </a:p>
        </p:txBody>
      </p:sp>
    </p:spTree>
    <p:extLst>
      <p:ext uri="{BB962C8B-B14F-4D97-AF65-F5344CB8AC3E}">
        <p14:creationId xmlns:p14="http://schemas.microsoft.com/office/powerpoint/2010/main" val="11720632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747AF-0E13-A44C-92DF-74BA358B194A}"/>
              </a:ext>
            </a:extLst>
          </p:cNvPr>
          <p:cNvSpPr>
            <a:spLocks noGrp="1"/>
          </p:cNvSpPr>
          <p:nvPr>
            <p:ph type="title"/>
          </p:nvPr>
        </p:nvSpPr>
        <p:spPr/>
        <p:txBody>
          <a:bodyPr/>
          <a:lstStyle/>
          <a:p>
            <a:r>
              <a:rPr lang="en-US" dirty="0"/>
              <a:t>Scheduling Conflict</a:t>
            </a:r>
          </a:p>
        </p:txBody>
      </p:sp>
      <p:sp>
        <p:nvSpPr>
          <p:cNvPr id="3" name="Text Placeholder 2">
            <a:extLst>
              <a:ext uri="{FF2B5EF4-FFF2-40B4-BE49-F238E27FC236}">
                <a16:creationId xmlns:a16="http://schemas.microsoft.com/office/drawing/2014/main" id="{4E7B3260-B62C-DE42-B79D-270E36136BEF}"/>
              </a:ext>
            </a:extLst>
          </p:cNvPr>
          <p:cNvSpPr>
            <a:spLocks noGrp="1"/>
          </p:cNvSpPr>
          <p:nvPr>
            <p:ph type="body" sz="quarter" idx="13"/>
          </p:nvPr>
        </p:nvSpPr>
        <p:spPr/>
        <p:txBody>
          <a:bodyPr>
            <a:normAutofit/>
          </a:bodyPr>
          <a:lstStyle/>
          <a:p>
            <a:r>
              <a:rPr lang="en-US" sz="3600" dirty="0"/>
              <a:t>The Scrum Master contacts you to let you know that the Development Team has discovered that it underestimated the work for the current Sprint.  They would like you to come in the next morning to discuss necessary modification. You have a long-scheduled meeting that morning to present a project proposal that could generate millions in revenue.</a:t>
            </a:r>
          </a:p>
          <a:p>
            <a:r>
              <a:rPr lang="en-US" sz="3600" dirty="0"/>
              <a:t>What do you do?</a:t>
            </a:r>
          </a:p>
        </p:txBody>
      </p:sp>
    </p:spTree>
    <p:extLst>
      <p:ext uri="{BB962C8B-B14F-4D97-AF65-F5344CB8AC3E}">
        <p14:creationId xmlns:p14="http://schemas.microsoft.com/office/powerpoint/2010/main" val="37731823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2039-A2C3-AF4D-A9D7-06282EA3AEFC}"/>
              </a:ext>
            </a:extLst>
          </p:cNvPr>
          <p:cNvSpPr>
            <a:spLocks noGrp="1"/>
          </p:cNvSpPr>
          <p:nvPr>
            <p:ph type="title"/>
          </p:nvPr>
        </p:nvSpPr>
        <p:spPr/>
        <p:txBody>
          <a:bodyPr/>
          <a:lstStyle/>
          <a:p>
            <a:r>
              <a:rPr lang="en-US" dirty="0"/>
              <a:t>Technical Product Owner</a:t>
            </a:r>
          </a:p>
        </p:txBody>
      </p:sp>
      <p:sp>
        <p:nvSpPr>
          <p:cNvPr id="3" name="Text Placeholder 2">
            <a:extLst>
              <a:ext uri="{FF2B5EF4-FFF2-40B4-BE49-F238E27FC236}">
                <a16:creationId xmlns:a16="http://schemas.microsoft.com/office/drawing/2014/main" id="{FD9DB417-DBB4-FC41-A4A9-DD0F1B1FA186}"/>
              </a:ext>
            </a:extLst>
          </p:cNvPr>
          <p:cNvSpPr>
            <a:spLocks noGrp="1"/>
          </p:cNvSpPr>
          <p:nvPr>
            <p:ph type="body" sz="quarter" idx="13"/>
          </p:nvPr>
        </p:nvSpPr>
        <p:spPr/>
        <p:txBody>
          <a:bodyPr>
            <a:noAutofit/>
          </a:bodyPr>
          <a:lstStyle/>
          <a:p>
            <a:r>
              <a:rPr lang="en-US" sz="3200" dirty="0"/>
              <a:t>You're an experienced expert in a technology being used on the product under development and have occasionally mentored the development team on some more advanced topics. The development team has learned that your main project is wrapping up and has invited you to join them on this one, arguing that you can both contribute more with your expertise and be a better product owner if you're there all the time. How do you respond?</a:t>
            </a:r>
          </a:p>
        </p:txBody>
      </p:sp>
    </p:spTree>
    <p:extLst>
      <p:ext uri="{BB962C8B-B14F-4D97-AF65-F5344CB8AC3E}">
        <p14:creationId xmlns:p14="http://schemas.microsoft.com/office/powerpoint/2010/main" val="18194202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73594-328F-5D40-8E7B-82B671BD3308}"/>
              </a:ext>
            </a:extLst>
          </p:cNvPr>
          <p:cNvSpPr>
            <a:spLocks noGrp="1"/>
          </p:cNvSpPr>
          <p:nvPr>
            <p:ph type="title"/>
          </p:nvPr>
        </p:nvSpPr>
        <p:spPr/>
        <p:txBody>
          <a:bodyPr/>
          <a:lstStyle/>
          <a:p>
            <a:r>
              <a:rPr lang="en-US" dirty="0"/>
              <a:t>Contracted Product Owner</a:t>
            </a:r>
          </a:p>
        </p:txBody>
      </p:sp>
      <p:sp>
        <p:nvSpPr>
          <p:cNvPr id="3" name="Text Placeholder 2">
            <a:extLst>
              <a:ext uri="{FF2B5EF4-FFF2-40B4-BE49-F238E27FC236}">
                <a16:creationId xmlns:a16="http://schemas.microsoft.com/office/drawing/2014/main" id="{2458EC12-DD7B-DA4F-99F7-B67DFE70F4F5}"/>
              </a:ext>
            </a:extLst>
          </p:cNvPr>
          <p:cNvSpPr>
            <a:spLocks noGrp="1"/>
          </p:cNvSpPr>
          <p:nvPr>
            <p:ph type="body" sz="quarter" idx="13"/>
          </p:nvPr>
        </p:nvSpPr>
        <p:spPr/>
        <p:txBody>
          <a:bodyPr>
            <a:noAutofit/>
          </a:bodyPr>
          <a:lstStyle/>
          <a:p>
            <a:r>
              <a:rPr lang="en-US" sz="2800" dirty="0"/>
              <a:t>You've been brought in by a client to serve as Product Owner for a project being developed by your company as well. Prior to the last Sprint before a decision is made on renewing your company's contract, the development team lets you know that there's a relatively valuable epic on the product backlog that they could do an astonishingly good job on and that one group of stakeholders has been clambering for. Based on your understanding of the business needs, however, you'd be hard pressed to consider it among the top five most valuable.</a:t>
            </a:r>
          </a:p>
          <a:p>
            <a:r>
              <a:rPr lang="en-US" sz="2800" dirty="0"/>
              <a:t>How do you respond?</a:t>
            </a:r>
          </a:p>
        </p:txBody>
      </p:sp>
    </p:spTree>
    <p:extLst>
      <p:ext uri="{BB962C8B-B14F-4D97-AF65-F5344CB8AC3E}">
        <p14:creationId xmlns:p14="http://schemas.microsoft.com/office/powerpoint/2010/main" val="19360426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1C06E-38E5-3C48-95BD-657B1D607AF8}"/>
              </a:ext>
            </a:extLst>
          </p:cNvPr>
          <p:cNvSpPr>
            <a:spLocks noGrp="1"/>
          </p:cNvSpPr>
          <p:nvPr>
            <p:ph type="title"/>
          </p:nvPr>
        </p:nvSpPr>
        <p:spPr/>
        <p:txBody>
          <a:bodyPr/>
          <a:lstStyle/>
          <a:p>
            <a:r>
              <a:rPr lang="en-US" dirty="0"/>
              <a:t>Embrace Change?</a:t>
            </a:r>
          </a:p>
        </p:txBody>
      </p:sp>
      <p:sp>
        <p:nvSpPr>
          <p:cNvPr id="3" name="Text Placeholder 2">
            <a:extLst>
              <a:ext uri="{FF2B5EF4-FFF2-40B4-BE49-F238E27FC236}">
                <a16:creationId xmlns:a16="http://schemas.microsoft.com/office/drawing/2014/main" id="{3D552D77-7811-E44E-B85A-6F06F559EA77}"/>
              </a:ext>
            </a:extLst>
          </p:cNvPr>
          <p:cNvSpPr>
            <a:spLocks noGrp="1"/>
          </p:cNvSpPr>
          <p:nvPr>
            <p:ph type="body" sz="quarter" idx="13"/>
          </p:nvPr>
        </p:nvSpPr>
        <p:spPr/>
        <p:txBody>
          <a:bodyPr/>
          <a:lstStyle/>
          <a:p>
            <a:r>
              <a:rPr lang="en-US" dirty="0"/>
              <a:t>Your product is a week into it's 4-week development cycle of 3rd sprint when the chief marketing officer rushes into your office and announces that a certain feature needs to be implemented as quickly as possible in order to avoid serious negative press in a new market where this feature is considered essential. How do you respond?</a:t>
            </a:r>
          </a:p>
        </p:txBody>
      </p:sp>
    </p:spTree>
    <p:extLst>
      <p:ext uri="{BB962C8B-B14F-4D97-AF65-F5344CB8AC3E}">
        <p14:creationId xmlns:p14="http://schemas.microsoft.com/office/powerpoint/2010/main" val="24435218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480AE-D04A-504D-8651-A56EF75624A6}"/>
              </a:ext>
            </a:extLst>
          </p:cNvPr>
          <p:cNvSpPr>
            <a:spLocks noGrp="1"/>
          </p:cNvSpPr>
          <p:nvPr>
            <p:ph type="title"/>
          </p:nvPr>
        </p:nvSpPr>
        <p:spPr/>
        <p:txBody>
          <a:bodyPr/>
          <a:lstStyle/>
          <a:p>
            <a:r>
              <a:rPr lang="en-US" dirty="0"/>
              <a:t>Flood of Change</a:t>
            </a:r>
          </a:p>
        </p:txBody>
      </p:sp>
      <p:sp>
        <p:nvSpPr>
          <p:cNvPr id="3" name="Text Placeholder 2">
            <a:extLst>
              <a:ext uri="{FF2B5EF4-FFF2-40B4-BE49-F238E27FC236}">
                <a16:creationId xmlns:a16="http://schemas.microsoft.com/office/drawing/2014/main" id="{533F0A9E-FEE9-EC4E-9BB7-54C5D6DEB0D2}"/>
              </a:ext>
            </a:extLst>
          </p:cNvPr>
          <p:cNvSpPr>
            <a:spLocks noGrp="1"/>
          </p:cNvSpPr>
          <p:nvPr>
            <p:ph type="body" sz="quarter" idx="13"/>
          </p:nvPr>
        </p:nvSpPr>
        <p:spPr/>
        <p:txBody>
          <a:bodyPr/>
          <a:lstStyle/>
          <a:p>
            <a:r>
              <a:rPr lang="en-US" dirty="0"/>
              <a:t>It's now a week into the 8</a:t>
            </a:r>
            <a:r>
              <a:rPr lang="en-US" baseline="30000" dirty="0"/>
              <a:t>th</a:t>
            </a:r>
            <a:r>
              <a:rPr lang="en-US" dirty="0"/>
              <a:t> sprint and the CMO is in your office for the 3</a:t>
            </a:r>
            <a:r>
              <a:rPr lang="en-US" baseline="30000" dirty="0"/>
              <a:t>rd</a:t>
            </a:r>
            <a:r>
              <a:rPr lang="en-US" dirty="0"/>
              <a:t> time with a legitimately urgent need due to the rapid adoption of the product across the world.</a:t>
            </a:r>
          </a:p>
          <a:p>
            <a:r>
              <a:rPr lang="en-US" dirty="0"/>
              <a:t>What should be done to mitigate or eliminate the need to address these issues over and over?</a:t>
            </a:r>
          </a:p>
          <a:p>
            <a:r>
              <a:rPr lang="en-US" sz="3200" dirty="0"/>
              <a:t>(This is ultimately not your decision, but you're the one in the hot seat and should be open with recommendations.)</a:t>
            </a:r>
          </a:p>
        </p:txBody>
      </p:sp>
    </p:spTree>
    <p:extLst>
      <p:ext uri="{BB962C8B-B14F-4D97-AF65-F5344CB8AC3E}">
        <p14:creationId xmlns:p14="http://schemas.microsoft.com/office/powerpoint/2010/main" val="35798261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B6003-1EF5-0E43-9242-F8A342C080C2}"/>
              </a:ext>
            </a:extLst>
          </p:cNvPr>
          <p:cNvSpPr>
            <a:spLocks noGrp="1"/>
          </p:cNvSpPr>
          <p:nvPr>
            <p:ph type="title"/>
          </p:nvPr>
        </p:nvSpPr>
        <p:spPr/>
        <p:txBody>
          <a:bodyPr/>
          <a:lstStyle/>
          <a:p>
            <a:r>
              <a:rPr lang="en-US" dirty="0"/>
              <a:t>Overactive </a:t>
            </a:r>
            <a:r>
              <a:rPr lang="en-US"/>
              <a:t>Product Owner</a:t>
            </a:r>
            <a:endParaRPr lang="en-US" dirty="0"/>
          </a:p>
        </p:txBody>
      </p:sp>
      <p:sp>
        <p:nvSpPr>
          <p:cNvPr id="3" name="Text Placeholder 2">
            <a:extLst>
              <a:ext uri="{FF2B5EF4-FFF2-40B4-BE49-F238E27FC236}">
                <a16:creationId xmlns:a16="http://schemas.microsoft.com/office/drawing/2014/main" id="{D7D26D17-E546-8741-B808-B836FED49EB3}"/>
              </a:ext>
            </a:extLst>
          </p:cNvPr>
          <p:cNvSpPr>
            <a:spLocks noGrp="1"/>
          </p:cNvSpPr>
          <p:nvPr>
            <p:ph type="body" sz="quarter" idx="13"/>
          </p:nvPr>
        </p:nvSpPr>
        <p:spPr/>
        <p:txBody>
          <a:bodyPr/>
          <a:lstStyle/>
          <a:p>
            <a:r>
              <a:rPr lang="en-US" dirty="0"/>
              <a:t>As product owner, you're responsible for being available to the development team. For several sprints now you have found yourself working with them several times a week to clarify requirements they're working on. What might have caused this and how can it be corrected?</a:t>
            </a:r>
          </a:p>
        </p:txBody>
      </p:sp>
    </p:spTree>
    <p:extLst>
      <p:ext uri="{BB962C8B-B14F-4D97-AF65-F5344CB8AC3E}">
        <p14:creationId xmlns:p14="http://schemas.microsoft.com/office/powerpoint/2010/main" val="19802338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cademy LCD Compliant Template">
  <a:themeElements>
    <a:clrScheme name="Cognizant">
      <a:dk1>
        <a:srgbClr val="50B3CF"/>
      </a:dk1>
      <a:lt1>
        <a:sysClr val="window" lastClr="FFFFFF"/>
      </a:lt1>
      <a:dk2>
        <a:srgbClr val="141414"/>
      </a:dk2>
      <a:lt2>
        <a:srgbClr val="FFFFFF"/>
      </a:lt2>
      <a:accent1>
        <a:srgbClr val="50B3CF"/>
      </a:accent1>
      <a:accent2>
        <a:srgbClr val="6DB33F"/>
      </a:accent2>
      <a:accent3>
        <a:srgbClr val="72CDF4"/>
      </a:accent3>
      <a:accent4>
        <a:srgbClr val="00728F"/>
      </a:accent4>
      <a:accent5>
        <a:srgbClr val="387C2C"/>
      </a:accent5>
      <a:accent6>
        <a:srgbClr val="DF7A1C"/>
      </a:accent6>
      <a:hlink>
        <a:srgbClr val="D36522"/>
      </a:hlink>
      <a:folHlink>
        <a:srgbClr val="66C2E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ognizant">
        <a:dk1>
          <a:srgbClr val="50B3CF"/>
        </a:dk1>
        <a:lt1>
          <a:sysClr val="window" lastClr="FFFFFF"/>
        </a:lt1>
        <a:dk2>
          <a:srgbClr val="141414"/>
        </a:dk2>
        <a:lt2>
          <a:srgbClr val="FFFFFF"/>
        </a:lt2>
        <a:accent1>
          <a:srgbClr val="50B3CF"/>
        </a:accent1>
        <a:accent2>
          <a:srgbClr val="6DB33F"/>
        </a:accent2>
        <a:accent3>
          <a:srgbClr val="72CDF4"/>
        </a:accent3>
        <a:accent4>
          <a:srgbClr val="00728F"/>
        </a:accent4>
        <a:accent5>
          <a:srgbClr val="387C2C"/>
        </a:accent5>
        <a:accent6>
          <a:srgbClr val="DF7A1C"/>
        </a:accent6>
        <a:hlink>
          <a:srgbClr val="D36522"/>
        </a:hlink>
        <a:folHlink>
          <a:srgbClr val="66C2EF"/>
        </a:folHlink>
      </a:clrScheme>
    </a:extraClrScheme>
  </a:extraClrSchemeLst>
</a:theme>
</file>

<file path=docProps/app.xml><?xml version="1.0" encoding="utf-8"?>
<Properties xmlns="http://schemas.openxmlformats.org/officeDocument/2006/extended-properties" xmlns:vt="http://schemas.openxmlformats.org/officeDocument/2006/docPropsVTypes">
  <Template/>
  <TotalTime>407</TotalTime>
  <Words>2367</Words>
  <Application>Microsoft Macintosh PowerPoint</Application>
  <PresentationFormat>Widescreen</PresentationFormat>
  <Paragraphs>280</Paragraphs>
  <Slides>61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61</vt:i4>
      </vt:variant>
    </vt:vector>
  </HeadingPairs>
  <TitlesOfParts>
    <vt:vector size="63" baseType="lpstr">
      <vt:lpstr>Arial</vt:lpstr>
      <vt:lpstr>Academy LCD Compliant Template</vt:lpstr>
      <vt:lpstr>PowerPoint Presentation</vt:lpstr>
      <vt:lpstr>Purpose</vt:lpstr>
      <vt:lpstr>Outline</vt:lpstr>
      <vt:lpstr>PowerPoint Presentation</vt:lpstr>
      <vt:lpstr>Scrum</vt:lpstr>
      <vt:lpstr>Scrum Pillars and Values</vt:lpstr>
      <vt:lpstr>Scrum Values</vt:lpstr>
      <vt:lpstr>Scrum Roles</vt:lpstr>
      <vt:lpstr>Scrum Events</vt:lpstr>
      <vt:lpstr>Scrum Artifacts</vt:lpstr>
      <vt:lpstr>Scrum Artifacts</vt:lpstr>
      <vt:lpstr>PowerPoint Presentation</vt:lpstr>
      <vt:lpstr>Product Owner</vt:lpstr>
      <vt:lpstr>Product Owner Qualifications</vt:lpstr>
      <vt:lpstr>Product Owner Role</vt:lpstr>
      <vt:lpstr>Managing the Product Backlog</vt:lpstr>
      <vt:lpstr>Managing the Product Backlog</vt:lpstr>
      <vt:lpstr>Product Owner as Arbiter</vt:lpstr>
      <vt:lpstr>Product Owner Services</vt:lpstr>
      <vt:lpstr>Product Owner Services</vt:lpstr>
      <vt:lpstr>PowerPoint Presentation</vt:lpstr>
      <vt:lpstr>Product Backlog</vt:lpstr>
      <vt:lpstr>Product Backlog</vt:lpstr>
      <vt:lpstr>User Stories</vt:lpstr>
      <vt:lpstr>User Stories</vt:lpstr>
      <vt:lpstr>Epics</vt:lpstr>
      <vt:lpstr>Prioritizing the Product Backlog</vt:lpstr>
      <vt:lpstr>Prioritizing the Product Backlog</vt:lpstr>
      <vt:lpstr>Managing the Product Backlog</vt:lpstr>
      <vt:lpstr>PowerPoint Presentation</vt:lpstr>
      <vt:lpstr>Sprint Planning</vt:lpstr>
      <vt:lpstr>PO Role in the Sprint Planning Meeting</vt:lpstr>
      <vt:lpstr>The Sprint Goal</vt:lpstr>
      <vt:lpstr>PowerPoint Presentation</vt:lpstr>
      <vt:lpstr>PO Role in the Daily Scrum</vt:lpstr>
      <vt:lpstr>PowerPoint Presentation</vt:lpstr>
      <vt:lpstr>PO Role in the Development Period</vt:lpstr>
      <vt:lpstr>Mis-estimated Sprint</vt:lpstr>
      <vt:lpstr>Overestimated Sprint</vt:lpstr>
      <vt:lpstr>Underestimated Sprint – Still Successful</vt:lpstr>
      <vt:lpstr>Underestimated Sprint – failed </vt:lpstr>
      <vt:lpstr>Cancelled Sprint</vt:lpstr>
      <vt:lpstr>PowerPoint Presentation</vt:lpstr>
      <vt:lpstr>Sprint Review</vt:lpstr>
      <vt:lpstr>Sprint Review Activities</vt:lpstr>
      <vt:lpstr>Sprint Review Activities</vt:lpstr>
      <vt:lpstr>PowerPoint Presentation</vt:lpstr>
      <vt:lpstr>Sprint Retrospective</vt:lpstr>
      <vt:lpstr>Activities of the Sprint Retrospective</vt:lpstr>
      <vt:lpstr>Activities of the Sprint Retrospective</vt:lpstr>
      <vt:lpstr>PowerPoint Presentation</vt:lpstr>
      <vt:lpstr>Artifacts</vt:lpstr>
      <vt:lpstr>Artifacts, cont.</vt:lpstr>
      <vt:lpstr>PowerPoint Presentation</vt:lpstr>
      <vt:lpstr>Enthusiastic Development Team</vt:lpstr>
      <vt:lpstr>Scheduling Conflict</vt:lpstr>
      <vt:lpstr>Technical Product Owner</vt:lpstr>
      <vt:lpstr>Contracted Product Owner</vt:lpstr>
      <vt:lpstr>Embrace Change?</vt:lpstr>
      <vt:lpstr>Flood of Change</vt:lpstr>
      <vt:lpstr>Overactive Product Owner</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Gaffney, Michael (Cognizant)</dc:creator>
  <cp:lastModifiedBy>Gaffney, Michael (Cognizant)</cp:lastModifiedBy>
  <cp:revision>14</cp:revision>
  <dcterms:created xsi:type="dcterms:W3CDTF">2020-06-17T17:40:33Z</dcterms:created>
  <dcterms:modified xsi:type="dcterms:W3CDTF">2020-06-18T00:28:19Z</dcterms:modified>
</cp:coreProperties>
</file>